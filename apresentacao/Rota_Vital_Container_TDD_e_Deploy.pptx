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8" r:id="rId21"/>
    <p:sldId id="265" r:id="rId11"/>
    <p:sldId id="266" r:id="rId12"/>
    <p:sldId id="267" r:id="rId13"/>
  </p:sldIdLst>
  <p:notesMasterIdLst>
    <p:notesMasterId r:id="rId14"/>
  </p:notesMasterIdLst>
  <p:sldSz cx="12192000" cy="6858000"/>
  <p:notesSz cx="6858000" cy="12192000"/>
  <p:embeddedFontLst>
    <p:embeddedFont>
      <p:font typeface="JetBrains Mono" panose="02000009000000000000" pitchFamily="49"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Apresentar o grupo e o tema: o Rota Vital é a plataforma de distribuição de hemocomponentes do PI. Hoje mostramos as três entregas de Infraestrutura de Software: container, TDD e deploy automatizado.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é a pergunta central do desafio. As três entregas respondem a ela em sequência: o E1 garante que o sistema sobe igual em qualquer máquina, o E2 garante que as regras estão protegidas por testes, e o E3 usa os dois para publicar sozinho a cada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único comando constrói a imagem e sobe a API e o PostgreSQL. No print: a imagem projeto3-20262-api foi construída, a rede rotavital-rede e o volume rotavital-dados foram criados, e o docker compose ps mostra os dois containers healthy. A imagem base é eclipse-temurin 21 JRE Alpine: menor e com menos pacotes vulneráveis. Se um teste falhar no primeiro estágio, a imagem nem é gerada.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 backbone segue a jornada da bolsa. Hoje a Release 1 está completa e em produção: as oito histórias, de cadastrar a bolsa até acompanhar os indicadores. A Release 2 está planejada: ingestão concorrente, roteirização por vizinho mais próximo (em andamento) e os indicadores de desabastecimento, descarte e painel consolidado. Escolhemos três histórias para quebrar em tarefas: compatibilidade ABO/Rh, alocação por validade (FEFO) e rota de entrega. O detalhamento está em docs/story-map.md.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Cada tarefa de regra tem um teste unitário. Cada história tem ao menos um teste de integração, que sobe a aplicação Spring e passa por controller, serviço, JPA e banco H2. Na aceitação, o CenariosAceitacaoTest traduz os cenários escritos em Gherkin no documento de histórias, com Dado / Quando / Então no nome de cada teste: são 10 cenários. A ordem foi por risco: compatibilidade ABO/Rh primeiro, porque um erro ali oferece uma bolsa incompatível como válida (no cenário didático); depois FEFO, que erra em silêncio; depois a rota. A suíte tem 421 testes.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Aqui entra a jornada do TDD. O sinal de que o TDD estava funcionando é o teste derrubar uma decisão nossa, e isso aconteceu três vezes. No cancelamento, a regra escrita proibia cancelar requisição atendida; o teste mostrou que a trava certa é o status das bolsas. Na bolsa vencida, achávamos que a alocação a recusaria; o teste falhou e mostrou que ela nem entra no estoque. No índice de estoque, a documentação dizia que a colisão era rara; a medição mostrou que Objects.hash sobre enum muda entre execuções. E a parte honesta: na U1 o código veio antes do teste, e mesmo na U2 o histórico de commits nem sempre mostra o teste primeiro. A lição é commitar o teste vermelho separado.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Execução 112, disparada pelo merge do PR 60 na main. São jobs em sequência, ligados por needs: se um falha, os seguintes não rodam. O deploy envia o jar que passou nos testes para a VM, reinicia o serviço e confere o health por dentro da VM e pela URL pública. Depois deste print entrou um quinto job, Imagem Docker, que publica a imagem no GitHub Container Registry com a tag do commit; a execução 39466760242 (merge do PR 73) passou nos cinco. Ferramenta: GitHub Actions, porque o código já está no GitHub. Fluxo: GitHub Flow, com branches curtas, pull request e deploy a cada merge.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gerar esta evidência, abrimos o PR 72 na branch test/esteira-vermelha com a asserção da compatibilidade ABO/Rh invertida. Escolhemos a regra de maior risco do sistema. Resultado: o Build passa, os Testes falham, e o Empacotamento e o Deploy nem começam.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três segredos do deploy ficam em Settings, Secrets and variables, Actions: só aparecem os nomes, os valores são criptografados. Quem clona o repositório não recebe credencial nenhuma; a senha do banco local fica no .env, que está no .gitignore. Para voltar à versão anterior, na VM: copiar rota-vital-anterior.jar sobre rota-vital.jar e reiniciar o serviço; depois, um PR com git revert corrige a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aplicação está no ar na URL pública. O health check é o mesmo que o pipeline usa para confirmar o deploy. O painel mostra os indicadores de estoque calculados a partir dos dados sintéticos da carga inicial. Bom momento para abrir a URL ao vivo, se houver tempo para a demonstração.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tabela completa, com uma linha por decisão, está no README, seção Decisões. Aqui ficam as que mais pesaram: a imagem base, o multi-stage, onde ficam os dados, a ordem dos testes, o fluxo de branch, a ferramenta de CI e o provedor, os segredos, e a decisão de entregar o jar enquanto a VM não comporta os containers.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Encerrar com o link do repositório e a URL pública, que são dois dos itens de entrega. Reforçar as ressalvas: os dados são sintéticos, a telemetria é simulada e a compatibilidade é didática. Abrir para perguntas.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E1 funciona: o compose sobe tudo em qualquer máquina. O problema é a VM do Google Cloud onde a aplicação está no ar. Medimos com free -m: 955 MB no total e só 296 livres. Os containers pediriam uns 510: 330 da aplicação, 100 do Postgres e 80 do daemon do Docker. A conta não fecha, e o kernel mataria a JVM. Por isso separamos construir de entregar: a imagem é publicada no GHCR a cada merge, e o deploy entrega o jar. Podíamos ter subido os containers meia hora antes da entrega e torcido para não cair; preferimos registrar a restrição na tabela de decisões.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72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48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F3F1E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17601"/>
            <a:ext cx="10566400" cy="4127599"/>
          </a:xfrm>
          <a:prstGeom prst="rect">
            <a:avLst/>
          </a:prstGeom>
          <a:noFill/>
          <a:ln/>
        </p:spPr>
        <p:txBody>
          <a:bodyPr wrap="square" lIns="0" tIns="0" rIns="0" bIns="0" rtlCol="0" anchor="t"/>
          <a:lstStyle>
            <a:lvl1pPr algn="l" indent="0" marL="0">
              <a:lnSpc>
                <a:spcPct val="140000"/>
              </a:lnSpc>
              <a:buNone/>
              <a:defRPr lang="en-US" sz="1600" dirty="0">
                <a:solidFill>
                  <a:srgbClr val="C9D2D9"/>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72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48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F3F1EC"/>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917601"/>
            <a:ext cx="10566400" cy="4127599"/>
          </a:xfrm>
          <a:prstGeom prst="rect">
            <a:avLst/>
          </a:prstGeom>
          <a:noFill/>
          <a:ln/>
        </p:spPr>
        <p:txBody>
          <a:bodyPr wrap="square" lIns="0" tIns="0" rIns="0" bIns="0" rtlCol="0" anchor="t"/>
          <a:lstStyle>
            <a:lvl1pPr algn="l" indent="0" marL="0">
              <a:lnSpc>
                <a:spcPct val="140000"/>
              </a:lnSpc>
              <a:buNone/>
              <a:defRPr lang="en-US" sz="1600" dirty="0">
                <a:solidFill>
                  <a:srgbClr val="C9D2D9"/>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B3261E"/>
          </a:solidFill>
          <a:ln/>
        </p:spPr>
        <p:txBody>
          <a:bodyPr/>
          <a:p/>
        </p:txBody>
      </p:sp>
      <p:sp>
        <p:nvSpPr>
          <p:cNvPr id="3" name="Text 1"/>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4978E"/>
                </a:solidFill>
                <a:latin typeface="JetBrains Mono" pitchFamily="49" charset="0"/>
                <a:ea typeface="JetBrains Mono" pitchFamily="49" charset="-122"/>
                <a:cs typeface="JetBrains Mono" pitchFamily="49" charset="-120"/>
              </a:rPr>
              <a:t>CESAR SCHOOL · INFRAESTRUTURA DE SOFTWARE · 2026.2</a:t>
            </a:r>
            <a:endParaRPr lang="en-US" sz="1300" dirty="0"/>
          </a:p>
        </p:txBody>
      </p:sp>
      <p:sp>
        <p:nvSpPr>
          <p:cNvPr id="4" name="Text 2"/>
          <p:cNvSpPr/>
          <p:nvPr>
            <p:ph type="title"/>
          </p:nvPr>
        </p:nvSpPr>
        <p:spPr>
          <a:xfrm>
            <a:off x="812800" y="2560439"/>
            <a:ext cx="10883392" cy="939800"/>
          </a:xfrm>
          <a:prstGeom prst="rect">
            <a:avLst/>
          </a:prstGeom>
          <a:noFill/>
          <a:ln/>
        </p:spPr>
        <p:txBody>
          <a:bodyPr wrap="square" lIns="0" tIns="0" rIns="0" bIns="0" rtlCol="0" anchor="t">
            <a:normAutofit/>
          </a:bodyPr>
          <a:lstStyle/>
          <a:p>
            <a:pPr algn="l" indent="0" marL="0">
              <a:lnSpc>
                <a:spcPts val="7200"/>
              </a:lnSpc>
              <a:buNone/>
            </a:pPr>
            <a:r>
              <a:rPr lang="en-US" sz="7200" b="1" i="0" spc="-100" kern="0" dirty="0">
                <a:solidFill>
                  <a:srgbClr val="F3F1EC"/>
                </a:solidFill>
                <a:latin typeface="IBM Plex Sans" pitchFamily="34" charset="0"/>
                <a:ea typeface="IBM Plex Sans" pitchFamily="34" charset="-122"/>
                <a:cs typeface="IBM Plex Sans" pitchFamily="34" charset="-120"/>
              </a:rPr>
              <a:t>Rota Vital</a:t>
            </a:r>
            <a:endParaRPr lang="en-US" sz="7200" dirty="0"/>
          </a:p>
        </p:txBody>
      </p:sp>
      <p:sp>
        <p:nvSpPr>
          <p:cNvPr id="5" name="Text 3"/>
          <p:cNvSpPr/>
          <p:nvPr/>
        </p:nvSpPr>
        <p:spPr>
          <a:xfrm>
            <a:off x="812800" y="3678039"/>
            <a:ext cx="8502650"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D9DEE2"/>
                </a:solidFill>
                <a:latin typeface="IBM Plex Sans" pitchFamily="34" charset="0"/>
                <a:ea typeface="IBM Plex Sans" pitchFamily="34" charset="-122"/>
                <a:cs typeface="IBM Plex Sans" pitchFamily="34" charset="-120"/>
              </a:rPr>
              <a:t>Container, TDD e deploy automatizados no Projeto Integrador</a:t>
            </a:r>
            <a:endParaRPr lang="en-US" sz="2200" dirty="0"/>
          </a:p>
        </p:txBody>
      </p:sp>
      <p:sp>
        <p:nvSpPr>
          <p:cNvPr id="6" name="Text 4"/>
          <p:cNvSpPr/>
          <p:nvPr/>
        </p:nvSpPr>
        <p:spPr>
          <a:xfrm>
            <a:off x="812800" y="5557639"/>
            <a:ext cx="9810750" cy="512961"/>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B7C2CB"/>
                </a:solidFill>
                <a:latin typeface="IBM Plex Sans" pitchFamily="34" charset="0"/>
                <a:ea typeface="IBM Plex Sans" pitchFamily="34" charset="-122"/>
                <a:cs typeface="IBM Plex Sans" pitchFamily="34" charset="-120"/>
              </a:rPr>
              <a:t>Cauã Rego Tavares Leite Duarte · Fernando Andrade Leandro Peixoto · Gabriel Brito Ferreira Dias · Guilherme Alves de Souza · Lucas Ferreira Torres de Albuquerque · Maria Eduarda Vasconcelos · Renato Santos Chong · Victor Barros Roma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8261D"/>
                </a:solidFill>
                <a:latin typeface="JetBrains Mono" pitchFamily="49" charset="0"/>
                <a:ea typeface="JetBrains Mono" pitchFamily="49" charset="-122"/>
                <a:cs typeface="JetBrains Mono" pitchFamily="49" charset="-120"/>
              </a:rPr>
              <a:t>A PERGUNTA DO DESAFIO</a:t>
            </a:r>
            <a:endParaRPr lang="en-US" sz="1300" dirty="0"/>
          </a:p>
        </p:txBody>
      </p:sp>
      <p:sp>
        <p:nvSpPr>
          <p:cNvPr id="3" name="Text 1"/>
          <p:cNvSpPr/>
          <p:nvPr>
            <p:ph type="title"/>
          </p:nvPr>
        </p:nvSpPr>
        <p:spPr>
          <a:xfrm>
            <a:off x="812800" y="1196280"/>
            <a:ext cx="10464800" cy="142736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“Se um colega clonar o repositório amanhã, ele consegue rodar, testar e publicar o sistema sem pedir ajuda?”</a:t>
            </a:r>
            <a:endParaRPr lang="en-US" sz="3200" dirty="0"/>
          </a:p>
        </p:txBody>
      </p:sp>
      <p:sp>
        <p:nvSpPr>
          <p:cNvPr id="4" name="Shape 2"/>
          <p:cNvSpPr/>
          <p:nvPr/>
        </p:nvSpPr>
        <p:spPr>
          <a:xfrm>
            <a:off x="815975" y="3754834"/>
            <a:ext cx="3380284" cy="2083991"/>
          </a:xfrm>
          <a:prstGeom prst="roundRect">
            <a:avLst>
              <a:gd name="adj" fmla="val 4723"/>
            </a:avLst>
          </a:prstGeom>
          <a:solidFill>
            <a:srgbClr val="FFFDF9"/>
          </a:solidFill>
          <a:ln w="6350">
            <a:solidFill>
              <a:srgbClr val="DDD8CE"/>
            </a:solidFill>
            <a:prstDash val="solid"/>
          </a:ln>
        </p:spPr>
        <p:txBody>
          <a:bodyPr/>
          <a:p/>
        </p:txBody>
      </p:sp>
      <p:sp>
        <p:nvSpPr>
          <p:cNvPr id="5" name="Text 3"/>
          <p:cNvSpPr/>
          <p:nvPr/>
        </p:nvSpPr>
        <p:spPr>
          <a:xfrm>
            <a:off x="1073150" y="4012009"/>
            <a:ext cx="29519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61D"/>
                </a:solidFill>
                <a:latin typeface="JetBrains Mono" pitchFamily="49" charset="0"/>
                <a:ea typeface="JetBrains Mono" pitchFamily="49" charset="-122"/>
                <a:cs typeface="JetBrains Mono" pitchFamily="49" charset="-120"/>
              </a:rPr>
              <a:t>E1</a:t>
            </a:r>
            <a:endParaRPr lang="en-US" sz="1300" dirty="0"/>
          </a:p>
        </p:txBody>
      </p:sp>
      <p:sp>
        <p:nvSpPr>
          <p:cNvPr id="6" name="Text 4"/>
          <p:cNvSpPr/>
          <p:nvPr/>
        </p:nvSpPr>
        <p:spPr>
          <a:xfrm>
            <a:off x="1073150" y="4344690"/>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B"/>
                </a:solidFill>
                <a:latin typeface="IBM Plex Sans" pitchFamily="34" charset="0"/>
                <a:ea typeface="IBM Plex Sans" pitchFamily="34" charset="-122"/>
                <a:cs typeface="IBM Plex Sans" pitchFamily="34" charset="-120"/>
              </a:rPr>
              <a:t>Container</a:t>
            </a:r>
            <a:endParaRPr lang="en-US" sz="2200" dirty="0"/>
          </a:p>
        </p:txBody>
      </p:sp>
      <p:sp>
        <p:nvSpPr>
          <p:cNvPr id="7" name="Text 5"/>
          <p:cNvSpPr/>
          <p:nvPr/>
        </p:nvSpPr>
        <p:spPr>
          <a:xfrm>
            <a:off x="1073150" y="4781550"/>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E5A64"/>
                </a:solidFill>
                <a:latin typeface="IBM Plex Sans" pitchFamily="34" charset="0"/>
                <a:ea typeface="IBM Plex Sans" pitchFamily="34" charset="-122"/>
                <a:cs typeface="IBM Plex Sans" pitchFamily="34" charset="-120"/>
              </a:rPr>
              <a:t>O sistema sobe do zero com um comando, igual em qualquer máquina.</a:t>
            </a:r>
            <a:endParaRPr lang="en-US" sz="1500" dirty="0"/>
          </a:p>
        </p:txBody>
      </p:sp>
      <p:sp>
        <p:nvSpPr>
          <p:cNvPr id="8" name="Shape 6"/>
          <p:cNvSpPr/>
          <p:nvPr/>
        </p:nvSpPr>
        <p:spPr>
          <a:xfrm>
            <a:off x="4405809" y="3754834"/>
            <a:ext cx="3380383" cy="2083991"/>
          </a:xfrm>
          <a:prstGeom prst="roundRect">
            <a:avLst>
              <a:gd name="adj" fmla="val 4723"/>
            </a:avLst>
          </a:prstGeom>
          <a:solidFill>
            <a:srgbClr val="FFFDF9"/>
          </a:solidFill>
          <a:ln w="6350">
            <a:solidFill>
              <a:srgbClr val="DDD8CE"/>
            </a:solidFill>
            <a:prstDash val="solid"/>
          </a:ln>
        </p:spPr>
        <p:txBody>
          <a:bodyPr/>
          <a:p/>
        </p:txBody>
      </p:sp>
      <p:sp>
        <p:nvSpPr>
          <p:cNvPr id="9" name="Text 7"/>
          <p:cNvSpPr/>
          <p:nvPr/>
        </p:nvSpPr>
        <p:spPr>
          <a:xfrm>
            <a:off x="4662984" y="4012009"/>
            <a:ext cx="295201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61D"/>
                </a:solidFill>
                <a:latin typeface="JetBrains Mono" pitchFamily="49" charset="0"/>
                <a:ea typeface="JetBrains Mono" pitchFamily="49" charset="-122"/>
                <a:cs typeface="JetBrains Mono" pitchFamily="49" charset="-120"/>
              </a:rPr>
              <a:t>E2</a:t>
            </a:r>
            <a:endParaRPr lang="en-US" sz="1300" dirty="0"/>
          </a:p>
        </p:txBody>
      </p:sp>
      <p:sp>
        <p:nvSpPr>
          <p:cNvPr id="10" name="Text 8"/>
          <p:cNvSpPr/>
          <p:nvPr/>
        </p:nvSpPr>
        <p:spPr>
          <a:xfrm>
            <a:off x="4662984" y="4344690"/>
            <a:ext cx="2952014"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B"/>
                </a:solidFill>
                <a:latin typeface="IBM Plex Sans" pitchFamily="34" charset="0"/>
                <a:ea typeface="IBM Plex Sans" pitchFamily="34" charset="-122"/>
                <a:cs typeface="IBM Plex Sans" pitchFamily="34" charset="-120"/>
              </a:rPr>
              <a:t>TDD</a:t>
            </a:r>
            <a:endParaRPr lang="en-US" sz="2200" dirty="0"/>
          </a:p>
        </p:txBody>
      </p:sp>
      <p:sp>
        <p:nvSpPr>
          <p:cNvPr id="11" name="Text 9"/>
          <p:cNvSpPr/>
          <p:nvPr/>
        </p:nvSpPr>
        <p:spPr>
          <a:xfrm>
            <a:off x="4662984" y="4781550"/>
            <a:ext cx="295201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E5A64"/>
                </a:solidFill>
                <a:latin typeface="IBM Plex Sans" pitchFamily="34" charset="0"/>
                <a:ea typeface="IBM Plex Sans" pitchFamily="34" charset="-122"/>
                <a:cs typeface="IBM Plex Sans" pitchFamily="34" charset="-120"/>
              </a:rPr>
              <a:t>As regras de negócio protegidas por testes em três níveis, rodando na esteira.</a:t>
            </a:r>
            <a:endParaRPr lang="en-US" sz="1500" dirty="0"/>
          </a:p>
        </p:txBody>
      </p:sp>
      <p:sp>
        <p:nvSpPr>
          <p:cNvPr id="12" name="Shape 10"/>
          <p:cNvSpPr/>
          <p:nvPr/>
        </p:nvSpPr>
        <p:spPr>
          <a:xfrm>
            <a:off x="7995741" y="3754834"/>
            <a:ext cx="3380284" cy="2083991"/>
          </a:xfrm>
          <a:prstGeom prst="roundRect">
            <a:avLst>
              <a:gd name="adj" fmla="val 4723"/>
            </a:avLst>
          </a:prstGeom>
          <a:solidFill>
            <a:srgbClr val="FFFDF9"/>
          </a:solidFill>
          <a:ln w="6350">
            <a:solidFill>
              <a:srgbClr val="DDD8CE"/>
            </a:solidFill>
            <a:prstDash val="solid"/>
          </a:ln>
        </p:spPr>
        <p:txBody>
          <a:bodyPr/>
          <a:p/>
        </p:txBody>
      </p:sp>
      <p:sp>
        <p:nvSpPr>
          <p:cNvPr id="13" name="Text 11"/>
          <p:cNvSpPr/>
          <p:nvPr/>
        </p:nvSpPr>
        <p:spPr>
          <a:xfrm>
            <a:off x="8252916" y="4012009"/>
            <a:ext cx="29519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261D"/>
                </a:solidFill>
                <a:latin typeface="JetBrains Mono" pitchFamily="49" charset="0"/>
                <a:ea typeface="JetBrains Mono" pitchFamily="49" charset="-122"/>
                <a:cs typeface="JetBrains Mono" pitchFamily="49" charset="-120"/>
              </a:rPr>
              <a:t>E3</a:t>
            </a:r>
            <a:endParaRPr lang="en-US" sz="1300" dirty="0"/>
          </a:p>
        </p:txBody>
      </p:sp>
      <p:sp>
        <p:nvSpPr>
          <p:cNvPr id="14" name="Text 12"/>
          <p:cNvSpPr/>
          <p:nvPr/>
        </p:nvSpPr>
        <p:spPr>
          <a:xfrm>
            <a:off x="8252916" y="4344690"/>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02B"/>
                </a:solidFill>
                <a:latin typeface="IBM Plex Sans" pitchFamily="34" charset="0"/>
                <a:ea typeface="IBM Plex Sans" pitchFamily="34" charset="-122"/>
                <a:cs typeface="IBM Plex Sans" pitchFamily="34" charset="-120"/>
              </a:rPr>
              <a:t>Deploy</a:t>
            </a:r>
            <a:endParaRPr lang="en-US" sz="2200" dirty="0"/>
          </a:p>
        </p:txBody>
      </p:sp>
      <p:sp>
        <p:nvSpPr>
          <p:cNvPr id="15" name="Text 13"/>
          <p:cNvSpPr/>
          <p:nvPr/>
        </p:nvSpPr>
        <p:spPr>
          <a:xfrm>
            <a:off x="8252916" y="4781550"/>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E5A64"/>
                </a:solidFill>
                <a:latin typeface="IBM Plex Sans" pitchFamily="34" charset="0"/>
                <a:ea typeface="IBM Plex Sans" pitchFamily="34" charset="-122"/>
                <a:cs typeface="IBM Plex Sans" pitchFamily="34" charset="-120"/>
              </a:rPr>
              <a:t>Cada merge na main chega sozinho ao ar, e só com a esteira verde.</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Rota Vital · Infraestrutura de Software 2026.2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4978E"/>
                </a:solidFill>
                <a:latin typeface="JetBrains Mono" pitchFamily="49" charset="0"/>
                <a:ea typeface="JetBrains Mono" pitchFamily="49" charset="-122"/>
                <a:cs typeface="JetBrains Mono" pitchFamily="49" charset="-120"/>
              </a:rPr>
              <a:t>E1 · CONTAINER AUTOMATIZADO</a:t>
            </a:r>
            <a:endParaRPr lang="en-US" sz="1300" dirty="0"/>
          </a:p>
        </p:txBody>
      </p:sp>
      <p:sp>
        <p:nvSpPr>
          <p:cNvPr id="3" name="Text 1"/>
          <p:cNvSpPr/>
          <p:nvPr>
            <p:ph type="title"/>
          </p:nvPr>
        </p:nvSpPr>
        <p:spPr>
          <a:xfrm>
            <a:off x="812800" y="11454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1EC"/>
                </a:solidFill>
                <a:latin typeface="IBM Plex Sans" pitchFamily="34" charset="0"/>
                <a:ea typeface="IBM Plex Sans" pitchFamily="34" charset="-122"/>
                <a:cs typeface="IBM Plex Sans" pitchFamily="34" charset="-120"/>
              </a:rPr>
              <a:t>Um comando sobe API e banco do zero</a:t>
            </a:r>
            <a:endParaRPr lang="en-US" sz="3200" dirty="0"/>
          </a:p>
        </p:txBody>
      </p:sp>
      <p:sp>
        <p:nvSpPr>
          <p:cNvPr id="4" name="Text 2"/>
          <p:cNvSpPr/>
          <p:nvPr/>
        </p:nvSpPr>
        <p:spPr>
          <a:xfrm>
            <a:off x="812800" y="1917601"/>
            <a:ext cx="693293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978E"/>
                </a:solidFill>
                <a:latin typeface="JetBrains Mono" pitchFamily="49" charset="0"/>
                <a:ea typeface="JetBrains Mono" pitchFamily="49" charset="-122"/>
                <a:cs typeface="JetBrains Mono" pitchFamily="49" charset="-120"/>
              </a:rPr>
              <a:t>$ docker compose up -d --build</a:t>
            </a:r>
            <a:endParaRPr lang="en-US" sz="1500" dirty="0"/>
          </a:p>
        </p:txBody>
      </p:sp>
      <p:pic>
        <p:nvPicPr>
          <p:cNvPr id="5" name="Image 0" descr="Terminal: docker compose up cria rede, volume e containers; docker compose ps mostra rotavital-api e rotavital-banco healthy">    </p:cNvPr>
          <p:cNvPicPr>
            <a:picLocks noChangeAspect="1"/>
          </p:cNvPicPr>
          <p:nvPr/>
        </p:nvPicPr>
        <p:blipFill>
          <a:blip r:embed="rId1"/>
          <a:srcRect l="-155" r="-155" t="0" b="0"/>
          <a:stretch/>
        </p:blipFill>
        <p:spPr>
          <a:xfrm>
            <a:off x="819150" y="2317651"/>
            <a:ext cx="6718300" cy="2317750"/>
          </a:xfrm>
          <a:prstGeom prst="roundRect">
            <a:avLst>
              <a:gd name="adj" fmla="val 3014"/>
            </a:avLst>
          </a:prstGeom>
        </p:spPr>
      </p:pic>
      <p:sp>
        <p:nvSpPr>
          <p:cNvPr id="6" name="Shape 3"/>
          <p:cNvSpPr/>
          <p:nvPr/>
        </p:nvSpPr>
        <p:spPr>
          <a:xfrm>
            <a:off x="815975" y="2314476"/>
            <a:ext cx="6724650" cy="2324100"/>
          </a:xfrm>
          <a:prstGeom prst="roundRect">
            <a:avLst>
              <a:gd name="adj" fmla="val 3142"/>
            </a:avLst>
          </a:prstGeom>
          <a:noFill/>
          <a:ln w="6350">
            <a:solidFill>
              <a:srgbClr val="2A3846"/>
            </a:solidFill>
            <a:prstDash val="solid"/>
          </a:ln>
        </p:spPr>
        <p:txBody>
          <a:bodyPr/>
          <a:p/>
        </p:txBody>
      </p:sp>
      <p:sp>
        <p:nvSpPr>
          <p:cNvPr id="7" name="Text 4"/>
          <p:cNvSpPr/>
          <p:nvPr/>
        </p:nvSpPr>
        <p:spPr>
          <a:xfrm>
            <a:off x="7977632" y="1917601"/>
            <a:ext cx="3498342" cy="2513806"/>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b="1" dirty="0">
                <a:solidFill>
                  <a:srgbClr val="C9D2D9"/>
                </a:solidFill>
                <a:latin typeface="IBM Plex Sans" pitchFamily="34" charset="0"/>
                <a:ea typeface="IBM Plex Sans" pitchFamily="34" charset="-122"/>
                <a:cs typeface="IBM Plex Sans" pitchFamily="34" charset="-120"/>
              </a:rPr>
              <a:t>Multi-stage:</a:t>
            </a:r>
            <a:r>
              <a:rPr lang="en-US" sz="1400" dirty="0">
                <a:solidFill>
                  <a:srgbClr val="C9D2D9"/>
                </a:solidFill>
                <a:latin typeface="IBM Plex Sans" pitchFamily="34" charset="0"/>
                <a:ea typeface="IBM Plex Sans" pitchFamily="34" charset="-122"/>
                <a:cs typeface="IBM Plex Sans" pitchFamily="34" charset="-120"/>
              </a:rPr>
              <a:t> o 1º estágio compila e roda os testes; o 2º leva só o jar</a:t>
            </a:r>
            <a:endParaRPr lang="en-US" sz="1400" dirty="0"/>
          </a:p>
          <a:p>
            <a:pPr algn="l" marL="175768" indent="-175768">
              <a:lnSpc>
                <a:spcPts val="1960"/>
              </a:lnSpc>
              <a:buSzPct val="100000"/>
              <a:buChar char="•"/>
            </a:pPr>
            <a:r>
              <a:rPr lang="en-US" sz="1400" b="1" dirty="0">
                <a:solidFill>
                  <a:srgbClr val="C9D2D9"/>
                </a:solidFill>
                <a:latin typeface="IBM Plex Sans" pitchFamily="34" charset="0"/>
                <a:ea typeface="IBM Plex Sans" pitchFamily="34" charset="-122"/>
                <a:cs typeface="IBM Plex Sans" pitchFamily="34" charset="-120"/>
              </a:rPr>
              <a:t>Healthcheck</a:t>
            </a:r>
            <a:r>
              <a:rPr lang="en-US" sz="1400" dirty="0">
                <a:solidFill>
                  <a:srgbClr val="C9D2D9"/>
                </a:solidFill>
                <a:latin typeface="IBM Plex Sans" pitchFamily="34" charset="0"/>
                <a:ea typeface="IBM Plex Sans" pitchFamily="34" charset="-122"/>
                <a:cs typeface="IBM Plex Sans" pitchFamily="34" charset="-120"/>
              </a:rPr>
              <a:t> nos dois serviços; a API espera o banco ficar pronto</a:t>
            </a:r>
            <a:endParaRPr lang="en-US" sz="1400" dirty="0"/>
          </a:p>
          <a:p>
            <a:pPr algn="l" marL="175768" indent="-175768">
              <a:lnSpc>
                <a:spcPts val="1960"/>
              </a:lnSpc>
              <a:buSzPct val="100000"/>
              <a:buChar char="•"/>
            </a:pPr>
            <a:r>
              <a:rPr lang="en-US" sz="1400" b="1" dirty="0">
                <a:solidFill>
                  <a:srgbClr val="C9D2D9"/>
                </a:solidFill>
                <a:latin typeface="IBM Plex Sans" pitchFamily="34" charset="0"/>
                <a:ea typeface="IBM Plex Sans" pitchFamily="34" charset="-122"/>
                <a:cs typeface="IBM Plex Sans" pitchFamily="34" charset="-120"/>
              </a:rPr>
              <a:t>Volume nomeado:</a:t>
            </a:r>
            <a:r>
              <a:rPr lang="en-US" sz="1400" dirty="0">
                <a:solidFill>
                  <a:srgbClr val="C9D2D9"/>
                </a:solidFill>
                <a:latin typeface="IBM Plex Sans" pitchFamily="34" charset="0"/>
                <a:ea typeface="IBM Plex Sans" pitchFamily="34" charset="-122"/>
                <a:cs typeface="IBM Plex Sans" pitchFamily="34" charset="-120"/>
              </a:rPr>
              <a:t> os dados sobrevivem ao compose down</a:t>
            </a:r>
            <a:endParaRPr lang="en-US" sz="1400" dirty="0"/>
          </a:p>
          <a:p>
            <a:pPr algn="l" marL="175768" indent="-175768">
              <a:lnSpc>
                <a:spcPts val="1960"/>
              </a:lnSpc>
              <a:buSzPct val="100000"/>
              <a:buChar char="•"/>
            </a:pPr>
            <a:r>
              <a:rPr lang="en-US" sz="1400" b="1" dirty="0">
                <a:solidFill>
                  <a:srgbClr val="C9D2D9"/>
                </a:solidFill>
                <a:latin typeface="IBM Plex Sans" pitchFamily="34" charset="0"/>
                <a:ea typeface="IBM Plex Sans" pitchFamily="34" charset="-122"/>
                <a:cs typeface="IBM Plex Sans" pitchFamily="34" charset="-120"/>
              </a:rPr>
              <a:t>Rede própria:</a:t>
            </a:r>
            <a:r>
              <a:rPr lang="en-US" sz="1400" dirty="0">
                <a:solidFill>
                  <a:srgbClr val="C9D2D9"/>
                </a:solidFill>
                <a:latin typeface="IBM Plex Sans" pitchFamily="34" charset="0"/>
                <a:ea typeface="IBM Plex Sans" pitchFamily="34" charset="-122"/>
                <a:cs typeface="IBM Plex Sans" pitchFamily="34" charset="-120"/>
              </a:rPr>
              <a:t> a API acha o banco pelo nome</a:t>
            </a:r>
            <a:endParaRPr lang="en-US" sz="1400" dirty="0"/>
          </a:p>
          <a:p>
            <a:pPr algn="l" marL="175768" indent="-175768">
              <a:lnSpc>
                <a:spcPts val="1960"/>
              </a:lnSpc>
              <a:buSzPct val="100000"/>
              <a:buChar char="•"/>
            </a:pPr>
            <a:r>
              <a:rPr lang="en-US" sz="1400" b="1" dirty="0">
                <a:solidFill>
                  <a:srgbClr val="C9D2D9"/>
                </a:solidFill>
                <a:latin typeface="IBM Plex Sans" pitchFamily="34" charset="0"/>
                <a:ea typeface="IBM Plex Sans" pitchFamily="34" charset="-122"/>
                <a:cs typeface="IBM Plex Sans" pitchFamily="34" charset="-120"/>
              </a:rPr>
              <a:t>.env</a:t>
            </a:r>
            <a:r>
              <a:rPr lang="en-US" sz="1400" dirty="0">
                <a:solidFill>
                  <a:srgbClr val="C9D2D9"/>
                </a:solidFill>
                <a:latin typeface="IBM Plex Sans" pitchFamily="34" charset="0"/>
                <a:ea typeface="IBM Plex Sans" pitchFamily="34" charset="-122"/>
                <a:cs typeface="IBM Plex Sans" pitchFamily="34" charset="-120"/>
              </a:rPr>
              <a:t> fora do git; nenhum segredo no repositório</a:t>
            </a:r>
            <a:endParaRPr lang="en-US" sz="14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3"/>
                </a:solidFill>
                <a:latin typeface="IBM Plex Sans" pitchFamily="34" charset="0"/>
                <a:ea typeface="IBM Plex Sans" pitchFamily="34" charset="-122"/>
                <a:cs typeface="IBM Plex Sans" pitchFamily="34" charset="-120"/>
              </a:rPr>
              <a:t>Rota Vital · Infraestrutura de Software 2026.2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8261D"/>
                </a:solidFill>
                <a:latin typeface="JetBrains Mono" pitchFamily="49" charset="0"/>
                <a:ea typeface="JetBrains Mono" pitchFamily="49" charset="-122"/>
                <a:cs typeface="JetBrains Mono" pitchFamily="49" charset="-120"/>
              </a:rPr>
              <a:t>E2 · TDD · STORY MAP</a:t>
            </a:r>
            <a:endParaRPr lang="en-US" sz="1300" dirty="0"/>
          </a:p>
        </p:txBody>
      </p:sp>
      <p:sp>
        <p:nvSpPr>
          <p:cNvPr id="3" name="Text 1"/>
          <p:cNvSpPr/>
          <p:nvPr>
            <p:ph type="title"/>
          </p:nvPr>
        </p:nvSpPr>
        <p:spPr>
          <a:xfrm>
            <a:off x="812800" y="11454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A jornada da bolsa, da coleta à rede</a:t>
            </a:r>
            <a:endParaRPr lang="en-US" sz="3200" dirty="0"/>
          </a:p>
        </p:txBody>
      </p:sp>
      <p:sp>
        <p:nvSpPr>
          <p:cNvPr id="4" name="Shape 2"/>
          <p:cNvSpPr/>
          <p:nvPr/>
        </p:nvSpPr>
        <p:spPr>
          <a:xfrm>
            <a:off x="812800" y="1866801"/>
            <a:ext cx="10566400" cy="2483346"/>
          </a:xfrm>
          <a:prstGeom prst="rect">
            <a:avLst/>
          </a:prstGeom>
          <a:solidFill>
            <a:srgbClr val="FFFDF9"/>
          </a:solidFill>
          <a:ln/>
        </p:spPr>
        <p:txBody>
          <a:bodyPr/>
          <a:p/>
        </p:txBody>
      </p:sp>
      <p:sp>
        <p:nvSpPr>
          <p:cNvPr id="5" name="Shape 3"/>
          <p:cNvSpPr/>
          <p:nvPr/>
        </p:nvSpPr>
        <p:spPr>
          <a:xfrm>
            <a:off x="11376025" y="1866801"/>
            <a:ext cx="0" cy="2483346"/>
          </a:xfrm>
          <a:prstGeom prst="line">
            <a:avLst/>
          </a:prstGeom>
          <a:noFill/>
          <a:ln w="6350">
            <a:solidFill>
              <a:srgbClr val="DDD8CE"/>
            </a:solidFill>
            <a:prstDash val="solid"/>
          </a:ln>
        </p:spPr>
        <p:txBody>
          <a:bodyPr/>
          <a:p/>
        </p:txBody>
      </p:sp>
      <p:sp>
        <p:nvSpPr>
          <p:cNvPr id="6" name="Shape 4"/>
          <p:cNvSpPr/>
          <p:nvPr/>
        </p:nvSpPr>
        <p:spPr>
          <a:xfrm>
            <a:off x="812800" y="4346972"/>
            <a:ext cx="10566400" cy="0"/>
          </a:xfrm>
          <a:prstGeom prst="line">
            <a:avLst/>
          </a:prstGeom>
          <a:noFill/>
          <a:ln w="6350">
            <a:solidFill>
              <a:srgbClr val="DDD8CE"/>
            </a:solidFill>
            <a:prstDash val="solid"/>
          </a:ln>
        </p:spPr>
        <p:txBody>
          <a:body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79501"/>
          <a:ext cx="10547350" cy="2464296"/>
        </p:xfrm>
        <a:graphic>
          <a:graphicData uri="http://schemas.openxmlformats.org/drawingml/2006/table">
            <a:tbl>
              <a:tblPr/>
              <a:tblGrid>
                <a:gridCol w="1491544"/>
                <a:gridCol w="1811161"/>
                <a:gridCol w="1811161"/>
                <a:gridCol w="1811161"/>
                <a:gridCol w="1811161"/>
                <a:gridCol w="1811161"/>
              </a:tblGrid>
              <a:tr h="590352">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820"/>
                        </a:lnSpc>
                        <a:buNone/>
                      </a:pPr>
                      <a:r>
                        <a:rPr lang="en-US" sz="1300" b="1" dirty="0">
                          <a:solidFill>
                            <a:srgbClr val="F3F1EC"/>
                          </a:solidFill>
                          <a:latin typeface="IBM Plex Sans" pitchFamily="34" charset="0"/>
                          <a:ea typeface="IBM Plex Sans" pitchFamily="34" charset="-122"/>
                          <a:cs typeface="IBM Plex Sans" pitchFamily="34" charset="-120"/>
                        </a:rPr>
                        <a:t>1. Abastecer o estoque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820"/>
                        </a:lnSpc>
                        <a:buNone/>
                      </a:pPr>
                      <a:r>
                        <a:rPr lang="en-US" sz="1300" b="1" dirty="0">
                          <a:solidFill>
                            <a:srgbClr val="F3F1EC"/>
                          </a:solidFill>
                          <a:latin typeface="IBM Plex Sans" pitchFamily="34" charset="0"/>
                          <a:ea typeface="IBM Plex Sans" pitchFamily="34" charset="-122"/>
                          <a:cs typeface="IBM Plex Sans" pitchFamily="34" charset="-120"/>
                        </a:rPr>
                        <a:t>2. Pedir sangue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820"/>
                        </a:lnSpc>
                        <a:buNone/>
                      </a:pPr>
                      <a:r>
                        <a:rPr lang="en-US" sz="1300" b="1" dirty="0">
                          <a:solidFill>
                            <a:srgbClr val="F3F1EC"/>
                          </a:solidFill>
                          <a:latin typeface="IBM Plex Sans" pitchFamily="34" charset="0"/>
                          <a:ea typeface="IBM Plex Sans" pitchFamily="34" charset="-122"/>
                          <a:cs typeface="IBM Plex Sans" pitchFamily="34" charset="-120"/>
                        </a:rPr>
                        <a:t>3. Separar as bolsas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820"/>
                        </a:lnSpc>
                        <a:buNone/>
                      </a:pPr>
                      <a:r>
                        <a:rPr lang="en-US" sz="1300" b="1" dirty="0">
                          <a:solidFill>
                            <a:srgbClr val="F3F1EC"/>
                          </a:solidFill>
                          <a:latin typeface="IBM Plex Sans" pitchFamily="34" charset="0"/>
                          <a:ea typeface="IBM Plex Sans" pitchFamily="34" charset="-122"/>
                          <a:cs typeface="IBM Plex Sans" pitchFamily="34" charset="-120"/>
                        </a:rPr>
                        <a:t>4. Entregar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820"/>
                        </a:lnSpc>
                        <a:buNone/>
                      </a:pPr>
                      <a:r>
                        <a:rPr lang="en-US" sz="1300" b="1" dirty="0">
                          <a:solidFill>
                            <a:srgbClr val="F3F1EC"/>
                          </a:solidFill>
                          <a:latin typeface="IBM Plex Sans" pitchFamily="34" charset="0"/>
                          <a:ea typeface="IBM Plex Sans" pitchFamily="34" charset="-122"/>
                          <a:cs typeface="IBM Plex Sans" pitchFamily="34" charset="-120"/>
                        </a:rPr>
                        <a:t>5. Acompanhar a rede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r>
              <a:tr h="1052513">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Release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HU-01 Cadastrar bolsa coletada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HU-02 Solicitar hemocomponentes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HU-03 Alocar por validade (FEFO) · HU-08 Alocar respeitando ABO/Rh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HU-05 Calcular rota de entrega · HU-07 Monitorar temperatura no transporte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HU-04 Bolsas em risco · HU-06 Indicadores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821432">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Release 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AC6"/>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Ingestão concorrente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Vizinho mais próximo (em andamento)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820"/>
                        </a:lnSpc>
                        <a:buNone/>
                      </a:pPr>
                      <a:r>
                        <a:rPr lang="en-US" sz="1300" dirty="0">
                          <a:solidFill>
                            <a:srgbClr val="14202B"/>
                          </a:solidFill>
                          <a:latin typeface="IBM Plex Sans" pitchFamily="34" charset="0"/>
                          <a:ea typeface="IBM Plex Sans" pitchFamily="34" charset="-122"/>
                          <a:cs typeface="IBM Plex Sans" pitchFamily="34" charset="-120"/>
                        </a:rPr>
                        <a:t>Desabastecimento · descarte · painel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bl>
          </a:graphicData>
        </a:graphic>
      </p:graphicFrame>
      <p:sp>
        <p:nvSpPr>
          <p:cNvPr id="8" name="Text 5"/>
          <p:cNvSpPr/>
          <p:nvPr/>
        </p:nvSpPr>
        <p:spPr>
          <a:xfrm>
            <a:off x="812800" y="5015627"/>
            <a:ext cx="1046480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E5A64"/>
                </a:solidFill>
                <a:latin typeface="IBM Plex Sans" pitchFamily="34" charset="0"/>
                <a:ea typeface="IBM Plex Sans" pitchFamily="34" charset="-122"/>
                <a:cs typeface="IBM Plex Sans" pitchFamily="34" charset="-120"/>
              </a:rPr>
              <a:t>Release 1</a:t>
            </a:r>
            <a:r>
              <a:rPr lang="en-US" sz="1500" dirty="0">
                <a:solidFill>
                  <a:srgbClr val="4E5A64"/>
                </a:solidFill>
                <a:latin typeface="IBM Plex Sans" pitchFamily="34" charset="0"/>
                <a:ea typeface="IBM Plex Sans" pitchFamily="34" charset="-122"/>
                <a:cs typeface="IBM Plex Sans" pitchFamily="34" charset="-120"/>
              </a:rPr>
              <a:t> está entregue e em produção: as oito histórias fecham o fluxo de ponta a ponta. A Release 2 está planejada. </a:t>
            </a:r>
            <a:r>
              <a:rPr lang="en-US" sz="1500" dirty="0">
                <a:solidFill>
                  <a:srgbClr val="A8261D"/>
                </a:solidFill>
                <a:latin typeface="IBM Plex Sans" pitchFamily="34" charset="0"/>
                <a:ea typeface="IBM Plex Sans" pitchFamily="34" charset="-122"/>
                <a:cs typeface="IBM Plex Sans" pitchFamily="34" charset="-120"/>
              </a:rPr>
              <a:t>HU-03, HU-08 e HU-05</a:t>
            </a:r>
            <a:r>
              <a:rPr lang="en-US" sz="1500" dirty="0">
                <a:solidFill>
                  <a:srgbClr val="4E5A64"/>
                </a:solidFill>
                <a:latin typeface="IBM Plex Sans" pitchFamily="34" charset="0"/>
                <a:ea typeface="IBM Plex Sans" pitchFamily="34" charset="-122"/>
                <a:cs typeface="IBM Plex Sans" pitchFamily="34" charset="-120"/>
              </a:rPr>
              <a:t> foram quebradas em tarefas, cada uma com o teste que a protege.</a:t>
            </a:r>
            <a:endParaRPr lang="en-US" sz="15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Rota Vital · Infraestrutura de Software 2026.2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8261D"/>
                </a:solidFill>
                <a:latin typeface="JetBrains Mono" pitchFamily="49" charset="0"/>
                <a:ea typeface="JetBrains Mono" pitchFamily="49" charset="-122"/>
                <a:cs typeface="JetBrains Mono" pitchFamily="49" charset="-120"/>
              </a:rPr>
              <a:t>E2 · TDD · TESTES POR NÍVEL</a:t>
            </a:r>
            <a:endParaRPr lang="en-US" sz="1300" dirty="0"/>
          </a:p>
        </p:txBody>
      </p:sp>
      <p:sp>
        <p:nvSpPr>
          <p:cNvPr id="3" name="Text 1"/>
          <p:cNvSpPr/>
          <p:nvPr>
            <p:ph type="title"/>
          </p:nvPr>
        </p:nvSpPr>
        <p:spPr>
          <a:xfrm>
            <a:off x="812800" y="11454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Cada história, testada em três níveis</a:t>
            </a:r>
            <a:endParaRPr lang="en-US" sz="3200" dirty="0"/>
          </a:p>
        </p:txBody>
      </p:sp>
      <p:sp>
        <p:nvSpPr>
          <p:cNvPr id="4" name="Shape 2"/>
          <p:cNvSpPr/>
          <p:nvPr/>
        </p:nvSpPr>
        <p:spPr>
          <a:xfrm>
            <a:off x="812800" y="1866801"/>
            <a:ext cx="10566400" cy="2202656"/>
          </a:xfrm>
          <a:prstGeom prst="rect">
            <a:avLst/>
          </a:prstGeom>
          <a:solidFill>
            <a:srgbClr val="FFFDF9"/>
          </a:solidFill>
          <a:ln/>
        </p:spPr>
        <p:txBody>
          <a:bodyPr/>
          <a:p/>
        </p:txBody>
      </p:sp>
      <p:sp>
        <p:nvSpPr>
          <p:cNvPr id="5" name="Shape 3"/>
          <p:cNvSpPr/>
          <p:nvPr/>
        </p:nvSpPr>
        <p:spPr>
          <a:xfrm>
            <a:off x="11376025" y="1866801"/>
            <a:ext cx="0" cy="2202656"/>
          </a:xfrm>
          <a:prstGeom prst="line">
            <a:avLst/>
          </a:prstGeom>
          <a:noFill/>
          <a:ln w="6350">
            <a:solidFill>
              <a:srgbClr val="DDD8CE"/>
            </a:solidFill>
            <a:prstDash val="solid"/>
          </a:ln>
        </p:spPr>
        <p:txBody>
          <a:bodyPr/>
          <a:p/>
        </p:txBody>
      </p:sp>
      <p:sp>
        <p:nvSpPr>
          <p:cNvPr id="6" name="Shape 4"/>
          <p:cNvSpPr/>
          <p:nvPr/>
        </p:nvSpPr>
        <p:spPr>
          <a:xfrm>
            <a:off x="812800" y="4066282"/>
            <a:ext cx="10566400" cy="0"/>
          </a:xfrm>
          <a:prstGeom prst="line">
            <a:avLst/>
          </a:prstGeom>
          <a:noFill/>
          <a:ln w="6350">
            <a:solidFill>
              <a:srgbClr val="DDD8CE"/>
            </a:solidFill>
            <a:prstDash val="solid"/>
          </a:ln>
        </p:spPr>
        <p:txBody>
          <a:body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79501"/>
          <a:ext cx="10547350" cy="2183606"/>
        </p:xfrm>
        <a:graphic>
          <a:graphicData uri="http://schemas.openxmlformats.org/drawingml/2006/table">
            <a:tbl>
              <a:tblPr/>
              <a:tblGrid>
                <a:gridCol w="1898523"/>
                <a:gridCol w="3375152"/>
                <a:gridCol w="2531364"/>
                <a:gridCol w="2742311"/>
              </a:tblGrid>
              <a:tr h="332581">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História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Unitário (por tarefa)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Integração (com banco)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Aceitação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r>
              <a:tr h="759222">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HU-08 Compatibilidade ABO/Rh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MatrizCompatibilidadeTest, CasosBordaCompatibilidadeTest, SelecaoFefoTest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AlocacaoAutomaticaTest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CenariosAceitacaoTest, CompatibilidadeAlocacaoTest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5902">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HU-03 Alocação FEFO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FilaPrioridadeFefoTest, SelecaoFefoTest, MotivoFalhaAlocacaoTest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FluxoRequisicaoTest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CenariosAceitacaoTest, CriteriosAceiteAlocacaoTest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545902">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HU-05 Rota de entrega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GrafoTest, DijkstraTest, DijkstraCasosSemSolucaoTest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RotaControllerTest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CenariosAceitacaoTest, DemoPontaAPontaTest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8" name="Shape 5"/>
          <p:cNvSpPr/>
          <p:nvPr/>
        </p:nvSpPr>
        <p:spPr>
          <a:xfrm>
            <a:off x="812800" y="4336157"/>
            <a:ext cx="3386634" cy="0"/>
          </a:xfrm>
          <a:prstGeom prst="line">
            <a:avLst/>
          </a:prstGeom>
          <a:noFill/>
          <a:ln w="25400">
            <a:solidFill>
              <a:srgbClr val="A8261D"/>
            </a:solidFill>
            <a:prstDash val="solid"/>
          </a:ln>
        </p:spPr>
        <p:txBody>
          <a:bodyPr/>
          <a:p/>
        </p:txBody>
      </p:sp>
      <p:sp>
        <p:nvSpPr>
          <p:cNvPr id="9" name="Text 6"/>
          <p:cNvSpPr/>
          <p:nvPr/>
        </p:nvSpPr>
        <p:spPr>
          <a:xfrm>
            <a:off x="812800" y="4475857"/>
            <a:ext cx="348823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B"/>
                </a:solidFill>
                <a:latin typeface="IBM Plex Sans" pitchFamily="34" charset="0"/>
                <a:ea typeface="IBM Plex Sans" pitchFamily="34" charset="-122"/>
                <a:cs typeface="IBM Plex Sans" pitchFamily="34" charset="-120"/>
              </a:rPr>
              <a:t>Unitário</a:t>
            </a:r>
            <a:endParaRPr lang="en-US" sz="1500" dirty="0"/>
          </a:p>
        </p:txBody>
      </p:sp>
      <p:sp>
        <p:nvSpPr>
          <p:cNvPr id="10" name="Text 7"/>
          <p:cNvSpPr/>
          <p:nvPr/>
        </p:nvSpPr>
        <p:spPr>
          <a:xfrm>
            <a:off x="812800" y="4755257"/>
            <a:ext cx="348823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5A64"/>
                </a:solidFill>
                <a:latin typeface="IBM Plex Sans" pitchFamily="34" charset="0"/>
                <a:ea typeface="IBM Plex Sans" pitchFamily="34" charset="-122"/>
                <a:cs typeface="IBM Plex Sans" pitchFamily="34" charset="-120"/>
              </a:rPr>
              <a:t>Classe de regra isolada, sem Spring nem banco</a:t>
            </a:r>
            <a:endParaRPr lang="en-US" sz="1300" dirty="0"/>
          </a:p>
        </p:txBody>
      </p:sp>
      <p:sp>
        <p:nvSpPr>
          <p:cNvPr id="11" name="Shape 8"/>
          <p:cNvSpPr/>
          <p:nvPr/>
        </p:nvSpPr>
        <p:spPr>
          <a:xfrm>
            <a:off x="4402634" y="4336157"/>
            <a:ext cx="3386733" cy="0"/>
          </a:xfrm>
          <a:prstGeom prst="line">
            <a:avLst/>
          </a:prstGeom>
          <a:noFill/>
          <a:ln w="25400">
            <a:solidFill>
              <a:srgbClr val="A8261D"/>
            </a:solidFill>
            <a:prstDash val="solid"/>
          </a:ln>
        </p:spPr>
        <p:txBody>
          <a:bodyPr/>
          <a:p/>
        </p:txBody>
      </p:sp>
      <p:sp>
        <p:nvSpPr>
          <p:cNvPr id="12" name="Text 9"/>
          <p:cNvSpPr/>
          <p:nvPr/>
        </p:nvSpPr>
        <p:spPr>
          <a:xfrm>
            <a:off x="4402634" y="4475857"/>
            <a:ext cx="348833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B"/>
                </a:solidFill>
                <a:latin typeface="IBM Plex Sans" pitchFamily="34" charset="0"/>
                <a:ea typeface="IBM Plex Sans" pitchFamily="34" charset="-122"/>
                <a:cs typeface="IBM Plex Sans" pitchFamily="34" charset="-120"/>
              </a:rPr>
              <a:t>Integração</a:t>
            </a:r>
            <a:endParaRPr lang="en-US" sz="1500" dirty="0"/>
          </a:p>
        </p:txBody>
      </p:sp>
      <p:sp>
        <p:nvSpPr>
          <p:cNvPr id="13" name="Text 10"/>
          <p:cNvSpPr/>
          <p:nvPr/>
        </p:nvSpPr>
        <p:spPr>
          <a:xfrm>
            <a:off x="4402634" y="4755257"/>
            <a:ext cx="348833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5A64"/>
                </a:solidFill>
                <a:latin typeface="IBM Plex Sans" pitchFamily="34" charset="0"/>
                <a:ea typeface="IBM Plex Sans" pitchFamily="34" charset="-122"/>
                <a:cs typeface="IBM Plex Sans" pitchFamily="34" charset="-120"/>
              </a:rPr>
              <a:t>@SpringBootTest + MockMvc, passando por JPA e H2</a:t>
            </a:r>
            <a:endParaRPr lang="en-US" sz="1300" dirty="0"/>
          </a:p>
        </p:txBody>
      </p:sp>
      <p:sp>
        <p:nvSpPr>
          <p:cNvPr id="14" name="Shape 11"/>
          <p:cNvSpPr/>
          <p:nvPr/>
        </p:nvSpPr>
        <p:spPr>
          <a:xfrm>
            <a:off x="7992566" y="4336157"/>
            <a:ext cx="3386634" cy="0"/>
          </a:xfrm>
          <a:prstGeom prst="line">
            <a:avLst/>
          </a:prstGeom>
          <a:noFill/>
          <a:ln w="25400">
            <a:solidFill>
              <a:srgbClr val="A8261D"/>
            </a:solidFill>
            <a:prstDash val="solid"/>
          </a:ln>
        </p:spPr>
        <p:txBody>
          <a:bodyPr/>
          <a:p/>
        </p:txBody>
      </p:sp>
      <p:sp>
        <p:nvSpPr>
          <p:cNvPr id="15" name="Text 12"/>
          <p:cNvSpPr/>
          <p:nvPr/>
        </p:nvSpPr>
        <p:spPr>
          <a:xfrm>
            <a:off x="7992566" y="4475857"/>
            <a:ext cx="348823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02B"/>
                </a:solidFill>
                <a:latin typeface="IBM Plex Sans" pitchFamily="34" charset="0"/>
                <a:ea typeface="IBM Plex Sans" pitchFamily="34" charset="-122"/>
                <a:cs typeface="IBM Plex Sans" pitchFamily="34" charset="-120"/>
              </a:rPr>
              <a:t>Aceitação</a:t>
            </a:r>
            <a:endParaRPr lang="en-US" sz="1500" dirty="0"/>
          </a:p>
        </p:txBody>
      </p:sp>
      <p:sp>
        <p:nvSpPr>
          <p:cNvPr id="16" name="Text 13"/>
          <p:cNvSpPr/>
          <p:nvPr/>
        </p:nvSpPr>
        <p:spPr>
          <a:xfrm>
            <a:off x="7992566" y="4755257"/>
            <a:ext cx="3488233" cy="48463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5A64"/>
                </a:solidFill>
                <a:latin typeface="IBM Plex Sans" pitchFamily="34" charset="0"/>
                <a:ea typeface="IBM Plex Sans" pitchFamily="34" charset="-122"/>
                <a:cs typeface="IBM Plex Sans" pitchFamily="34" charset="-120"/>
              </a:rPr>
              <a:t>Cenários Gherkin da história em Dado / Quando / Então</a:t>
            </a:r>
            <a:endParaRPr lang="en-US" sz="13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Rota Vital · Infraestrutura de Software 2026.2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4978E"/>
                </a:solidFill>
                <a:latin typeface="JetBrains Mono" pitchFamily="49" charset="0"/>
                <a:ea typeface="JetBrains Mono" pitchFamily="49" charset="-122"/>
                <a:cs typeface="JetBrains Mono" pitchFamily="49" charset="-120"/>
              </a:rPr>
              <a:t>E2 · TDD · A JORNADA</a:t>
            </a:r>
            <a:endParaRPr lang="en-US" sz="1300" dirty="0"/>
          </a:p>
        </p:txBody>
      </p:sp>
      <p:sp>
        <p:nvSpPr>
          <p:cNvPr id="3" name="Text 1"/>
          <p:cNvSpPr/>
          <p:nvPr>
            <p:ph type="title"/>
          </p:nvPr>
        </p:nvSpPr>
        <p:spPr>
          <a:xfrm>
            <a:off x="812800" y="11454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1EC"/>
                </a:solidFill>
                <a:latin typeface="IBM Plex Sans" pitchFamily="34" charset="0"/>
                <a:ea typeface="IBM Plex Sans" pitchFamily="34" charset="-122"/>
                <a:cs typeface="IBM Plex Sans" pitchFamily="34" charset="-120"/>
              </a:rPr>
              <a:t>O teste derrubou três decisões nossas</a:t>
            </a:r>
            <a:endParaRPr lang="en-US" sz="3200" dirty="0"/>
          </a:p>
        </p:txBody>
      </p:sp>
      <p:sp>
        <p:nvSpPr>
          <p:cNvPr id="6" name="Text 3"/>
          <p:cNvSpPr/>
          <p:nvPr/>
        </p:nvSpPr>
        <p:spPr>
          <a:xfrm>
            <a:off x="813816" y="1965960"/>
            <a:ext cx="33832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978E"/>
                </a:solidFill>
                <a:latin typeface="JetBrains Mono" pitchFamily="49" charset="0"/>
                <a:ea typeface="JetBrains Mono" pitchFamily="49" charset="-122"/>
                <a:cs typeface="JetBrains Mono" pitchFamily="49" charset="-120"/>
              </a:rPr>
              <a:t>CANCELAMENTO</a:t>
            </a:r>
            <a:endParaRPr lang="en-US" sz="1400" dirty="0"/>
          </a:p>
        </p:txBody>
      </p:sp>
      <p:sp>
        <p:nvSpPr>
          <p:cNvPr id="7" name="Text 4"/>
          <p:cNvSpPr/>
          <p:nvPr/>
        </p:nvSpPr>
        <p:spPr>
          <a:xfrm>
            <a:off x="813816" y="2377440"/>
            <a:ext cx="3383280" cy="2011680"/>
          </a:xfrm>
          <a:prstGeom prst="rect">
            <a:avLst/>
          </a:prstGeom>
          <a:noFill/>
          <a:ln/>
        </p:spPr>
        <p:txBody>
          <a:bodyPr wrap="square" lIns="0" tIns="0" rIns="0" bIns="0" rtlCol="0" anchor="t">
            <a:normAutofit/>
          </a:bodyPr>
          <a:lstStyle/>
          <a:p>
            <a:pPr algn="l" indent="0" marL="0">
              <a:lnSpc>
                <a:spcPts val="1960"/>
              </a:lnSpc>
              <a:spcAft>
                <a:spcPts val="1000"/>
              </a:spcAft>
              <a:buNone/>
            </a:pPr>
            <a:r>
              <a:rPr lang="en-US" sz="1400" dirty="0" b="1">
                <a:solidFill>
                  <a:srgbClr val="C9D2D9"/>
                </a:solidFill>
                <a:latin typeface="IBM Plex Sans" pitchFamily="34" charset="0"/>
                <a:ea typeface="IBM Plex Sans" pitchFamily="34" charset="-122"/>
                <a:cs typeface="IBM Plex Sans" pitchFamily="34" charset="-120"/>
              </a:rPr>
              <a:t>Achávamos: </a:t>
            </a:r>
            <a:r>
              <a:rPr lang="en-US" sz="1400" dirty="0">
                <a:solidFill>
                  <a:srgbClr val="C9D2D9"/>
                </a:solidFill>
                <a:latin typeface="IBM Plex Sans" pitchFamily="34" charset="0"/>
                <a:ea typeface="IBM Plex Sans" pitchFamily="34" charset="-122"/>
                <a:cs typeface="IBM Plex Sans" pitchFamily="34" charset="-120"/>
              </a:rPr>
              <a:t>proibir cancelar requisição já ATENDIDA.</a:t>
            </a:r>
            <a:endParaRPr lang="en-US" sz="1400" dirty="0"/>
          </a:p>
          <a:p>
            <a:pPr algn="l" indent="0" marL="0">
              <a:lnSpc>
                <a:spcPts val="1960"/>
              </a:lnSpc>
              <a:buNone/>
            </a:pPr>
            <a:r>
              <a:rPr lang="en-US" sz="1400" dirty="0" b="1">
                <a:solidFill>
                  <a:srgbClr val="C9D2D9"/>
                </a:solidFill>
                <a:latin typeface="IBM Plex Sans" pitchFamily="34" charset="0"/>
                <a:ea typeface="IBM Plex Sans" pitchFamily="34" charset="-122"/>
                <a:cs typeface="IBM Plex Sans" pitchFamily="34" charset="-120"/>
              </a:rPr>
              <a:t>O teste mostrou: </a:t>
            </a:r>
            <a:r>
              <a:rPr lang="en-US" sz="1400" dirty="0">
                <a:solidFill>
                  <a:srgbClr val="C9D2D9"/>
                </a:solidFill>
                <a:latin typeface="IBM Plex Sans" pitchFamily="34" charset="0"/>
                <a:ea typeface="IBM Plex Sans" pitchFamily="34" charset="-122"/>
                <a:cs typeface="IBM Plex Sans" pitchFamily="34" charset="-120"/>
              </a:rPr>
              <a:t>a trava certa é o status das bolsas: RESERVADA desfaz, em trânsito não.</a:t>
            </a:r>
            <a:endParaRPr lang="en-US" sz="1400" dirty="0"/>
          </a:p>
        </p:txBody>
      </p:sp>
      <p:sp>
        <p:nvSpPr>
          <p:cNvPr id="10" name="Text 7"/>
          <p:cNvSpPr/>
          <p:nvPr/>
        </p:nvSpPr>
        <p:spPr>
          <a:xfrm>
            <a:off x="812800" y="4709160"/>
            <a:ext cx="11379200" cy="822960"/>
          </a:xfrm>
          <a:prstGeom prst="rect">
            <a:avLst/>
          </a:prstGeom>
          <a:noFill/>
          <a:ln/>
        </p:spPr>
        <p:txBody>
          <a:bodyPr wrap="square" lIns="0" tIns="0" rIns="0" bIns="0" rtlCol="0" anchor="t">
            <a:normAutofit/>
          </a:bodyPr>
          <a:lstStyle/>
          <a:p>
            <a:pPr algn="l" indent="0" marL="0">
              <a:lnSpc>
                <a:spcPts val="2100"/>
              </a:lnSpc>
              <a:buNone/>
            </a:pPr>
            <a:r>
              <a:rPr lang="en-US" sz="1500" dirty="0" b="1">
                <a:solidFill>
                  <a:srgbClr val="C9D2D9"/>
                </a:solidFill>
                <a:latin typeface="IBM Plex Sans" pitchFamily="34" charset="0"/>
                <a:ea typeface="IBM Plex Sans" pitchFamily="34" charset="-122"/>
                <a:cs typeface="IBM Plex Sans" pitchFamily="34" charset="-120"/>
              </a:rPr>
              <a:t>Onde não seguimos à risca: </a:t>
            </a:r>
            <a:r>
              <a:rPr lang="en-US" sz="1500" dirty="0">
                <a:solidFill>
                  <a:srgbClr val="C9D2D9"/>
                </a:solidFill>
                <a:latin typeface="IBM Plex Sans" pitchFamily="34" charset="0"/>
                <a:ea typeface="IBM Plex Sans" pitchFamily="34" charset="-122"/>
                <a:cs typeface="IBM Plex Sans" pitchFamily="34" charset="-120"/>
              </a:rPr>
              <a:t>na Unidade 1 o código veio antes do teste. Na Unidade 2 os testes guiaram as regras, mas o histórico nem sempre mostra isso: os commits test: chegaram junto ou depois do feat:.</a:t>
            </a:r>
            <a:endParaRPr lang="en-US" sz="1500" dirty="0"/>
          </a:p>
        </p:txBody>
      </p:sp>
      <p:sp>
        <p:nvSpPr>
          <p:cNvPr id="11"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3"/>
                </a:solidFill>
                <a:latin typeface="IBM Plex Sans" pitchFamily="34" charset="0"/>
                <a:ea typeface="IBM Plex Sans" pitchFamily="34" charset="-122"/>
                <a:cs typeface="IBM Plex Sans" pitchFamily="34" charset="-120"/>
              </a:rPr>
              <a:t>Rota Vital · Infraestrutura de Software 2026.2 · 6</a:t>
            </a:r>
            <a:endParaRPr lang="en-US" sz="1200" dirty="0"/>
          </a:p>
        </p:txBody>
      </p:sp>
      <p:sp>
        <p:nvSpPr>
          <p:cNvPr id="12" name="Text 3"/>
          <p:cNvSpPr/>
          <p:nvPr/>
        </p:nvSpPr>
        <p:spPr>
          <a:xfrm>
            <a:off x="4398264" y="1965960"/>
            <a:ext cx="33832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978E"/>
                </a:solidFill>
                <a:latin typeface="JetBrains Mono" pitchFamily="49" charset="0"/>
                <a:ea typeface="JetBrains Mono" pitchFamily="49" charset="-122"/>
                <a:cs typeface="JetBrains Mono" pitchFamily="49" charset="-120"/>
              </a:rPr>
              <a:t>BOLSA VENCIDA</a:t>
            </a:r>
            <a:endParaRPr lang="en-US" sz="1400" dirty="0"/>
          </a:p>
        </p:txBody>
      </p:sp>
      <p:sp>
        <p:nvSpPr>
          <p:cNvPr id="13" name="Text 4"/>
          <p:cNvSpPr/>
          <p:nvPr/>
        </p:nvSpPr>
        <p:spPr>
          <a:xfrm>
            <a:off x="4398264" y="2377440"/>
            <a:ext cx="3383280" cy="2011680"/>
          </a:xfrm>
          <a:prstGeom prst="rect">
            <a:avLst/>
          </a:prstGeom>
          <a:noFill/>
          <a:ln/>
        </p:spPr>
        <p:txBody>
          <a:bodyPr wrap="square" lIns="0" tIns="0" rIns="0" bIns="0" rtlCol="0" anchor="t">
            <a:normAutofit/>
          </a:bodyPr>
          <a:lstStyle/>
          <a:p>
            <a:pPr algn="l" indent="0" marL="0">
              <a:lnSpc>
                <a:spcPts val="1960"/>
              </a:lnSpc>
              <a:spcAft>
                <a:spcPts val="1000"/>
              </a:spcAft>
              <a:spcAft>
                <a:spcPts val="1000"/>
              </a:spcAft>
              <a:buNone/>
            </a:pPr>
            <a:r>
              <a:rPr lang="en-US" sz="1400" dirty="0" b="1">
                <a:solidFill>
                  <a:srgbClr val="C9D2D9"/>
                </a:solidFill>
                <a:latin typeface="IBM Plex Sans" pitchFamily="34" charset="0"/>
                <a:ea typeface="IBM Plex Sans" pitchFamily="34" charset="-122"/>
                <a:cs typeface="IBM Plex Sans" pitchFamily="34" charset="-120"/>
              </a:rPr>
              <a:t>Achávamos: </a:t>
            </a:r>
            <a:r>
              <a:rPr lang="en-US" sz="1400" dirty="0">
                <a:solidFill>
                  <a:srgbClr val="C9D2D9"/>
                </a:solidFill>
                <a:latin typeface="IBM Plex Sans" pitchFamily="34" charset="0"/>
                <a:ea typeface="IBM Plex Sans" pitchFamily="34" charset="-122"/>
                <a:cs typeface="IBM Plex Sans" pitchFamily="34" charset="-120"/>
              </a:rPr>
              <a:t>a alocação recusaria a bolsa vencida.</a:t>
            </a:r>
            <a:endParaRPr lang="en-US" sz="1400" dirty="0"/>
          </a:p>
          <a:p>
            <a:pPr algn="l" indent="0" marL="0">
              <a:lnSpc>
                <a:spcPts val="1960"/>
              </a:lnSpc>
              <a:spcAft>
                <a:spcPts val="1000"/>
              </a:spcAft>
              <a:buNone/>
            </a:pPr>
            <a:r>
              <a:rPr lang="en-US" sz="1400" dirty="0" b="1">
                <a:solidFill>
                  <a:srgbClr val="C9D2D9"/>
                </a:solidFill>
                <a:latin typeface="IBM Plex Sans" pitchFamily="34" charset="0"/>
                <a:ea typeface="IBM Plex Sans" pitchFamily="34" charset="-122"/>
                <a:cs typeface="IBM Plex Sans" pitchFamily="34" charset="-120"/>
              </a:rPr>
              <a:t>O teste mostrou: </a:t>
            </a:r>
            <a:r>
              <a:rPr lang="en-US" sz="1400" dirty="0">
                <a:solidFill>
                  <a:srgbClr val="C9D2D9"/>
                </a:solidFill>
                <a:latin typeface="IBM Plex Sans" pitchFamily="34" charset="0"/>
                <a:ea typeface="IBM Plex Sans" pitchFamily="34" charset="-122"/>
                <a:cs typeface="IBM Plex Sans" pitchFamily="34" charset="-120"/>
              </a:rPr>
              <a:t>ela é barrada antes, na entrada do estoque; e a que vence hoje ainda vale.</a:t>
            </a:r>
            <a:endParaRPr lang="en-US" sz="1400" dirty="0"/>
          </a:p>
        </p:txBody>
      </p:sp>
      <p:sp>
        <p:nvSpPr>
          <p:cNvPr id="14" name="Text 3"/>
          <p:cNvSpPr/>
          <p:nvPr/>
        </p:nvSpPr>
        <p:spPr>
          <a:xfrm>
            <a:off x="7991856" y="1965960"/>
            <a:ext cx="33832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978E"/>
                </a:solidFill>
                <a:latin typeface="JetBrains Mono" pitchFamily="49" charset="0"/>
                <a:ea typeface="JetBrains Mono" pitchFamily="49" charset="-122"/>
                <a:cs typeface="JetBrains Mono" pitchFamily="49" charset="-120"/>
              </a:rPr>
              <a:t>ÍNDICE DE ESTOQUE</a:t>
            </a:r>
            <a:endParaRPr lang="en-US" sz="1400" dirty="0"/>
          </a:p>
        </p:txBody>
      </p:sp>
      <p:sp>
        <p:nvSpPr>
          <p:cNvPr id="15" name="Text 4"/>
          <p:cNvSpPr/>
          <p:nvPr/>
        </p:nvSpPr>
        <p:spPr>
          <a:xfrm>
            <a:off x="7991856" y="2377440"/>
            <a:ext cx="3383280" cy="2011680"/>
          </a:xfrm>
          <a:prstGeom prst="rect">
            <a:avLst/>
          </a:prstGeom>
          <a:noFill/>
          <a:ln/>
        </p:spPr>
        <p:txBody>
          <a:bodyPr wrap="square" lIns="0" tIns="0" rIns="0" bIns="0" rtlCol="0" anchor="t">
            <a:normAutofit/>
          </a:bodyPr>
          <a:lstStyle/>
          <a:p>
            <a:pPr algn="l" indent="0" marL="0">
              <a:lnSpc>
                <a:spcPts val="1960"/>
              </a:lnSpc>
              <a:spcAft>
                <a:spcPts val="1000"/>
              </a:spcAft>
              <a:spcAft>
                <a:spcPts val="1000"/>
              </a:spcAft>
              <a:buNone/>
            </a:pPr>
            <a:r>
              <a:rPr lang="en-US" sz="1400" dirty="0" b="1">
                <a:solidFill>
                  <a:srgbClr val="C9D2D9"/>
                </a:solidFill>
                <a:latin typeface="IBM Plex Sans" pitchFamily="34" charset="0"/>
                <a:ea typeface="IBM Plex Sans" pitchFamily="34" charset="-122"/>
                <a:cs typeface="IBM Plex Sans" pitchFamily="34" charset="-120"/>
              </a:rPr>
              <a:t>Achávamos: </a:t>
            </a:r>
            <a:r>
              <a:rPr lang="en-US" sz="1400" dirty="0">
                <a:solidFill>
                  <a:srgbClr val="C9D2D9"/>
                </a:solidFill>
                <a:latin typeface="IBM Plex Sans" pitchFamily="34" charset="0"/>
                <a:ea typeface="IBM Plex Sans" pitchFamily="34" charset="-122"/>
                <a:cs typeface="IBM Plex Sans" pitchFamily="34" charset="-120"/>
              </a:rPr>
              <a:t>a colisão no hash era “rara por construção”.</a:t>
            </a:r>
            <a:endParaRPr lang="en-US" sz="1400" dirty="0"/>
          </a:p>
          <a:p>
            <a:pPr algn="l" indent="0" marL="0">
              <a:lnSpc>
                <a:spcPts val="1960"/>
              </a:lnSpc>
              <a:spcAft>
                <a:spcPts val="1000"/>
              </a:spcAft>
              <a:buNone/>
            </a:pPr>
            <a:r>
              <a:rPr lang="en-US" sz="1400" dirty="0" b="1">
                <a:solidFill>
                  <a:srgbClr val="C9D2D9"/>
                </a:solidFill>
                <a:latin typeface="IBM Plex Sans" pitchFamily="34" charset="0"/>
                <a:ea typeface="IBM Plex Sans" pitchFamily="34" charset="-122"/>
                <a:cs typeface="IBM Plex Sans" pitchFamily="34" charset="-120"/>
              </a:rPr>
              <a:t>O teste mostrou: </a:t>
            </a:r>
            <a:r>
              <a:rPr lang="en-US" sz="1400" dirty="0">
                <a:solidFill>
                  <a:srgbClr val="C9D2D9"/>
                </a:solidFill>
                <a:latin typeface="IBM Plex Sans" pitchFamily="34" charset="0"/>
                <a:ea typeface="IBM Plex Sans" pitchFamily="34" charset="-122"/>
                <a:cs typeface="IBM Plex Sans" pitchFamily="34" charset="-120"/>
              </a:rPr>
              <a:t>Objects.hash sobre enum varia entre execuções; a chave passou a usar ordinal().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4978E"/>
                </a:solidFill>
                <a:latin typeface="JetBrains Mono" pitchFamily="49" charset="0"/>
                <a:ea typeface="JetBrains Mono" pitchFamily="49" charset="-122"/>
                <a:cs typeface="JetBrains Mono" pitchFamily="49" charset="-120"/>
              </a:rPr>
              <a:t>E3 · DEPLOY AUTOMATIZADO · EXECUÇÃO VERDE</a:t>
            </a:r>
            <a:endParaRPr lang="en-US" sz="1300" dirty="0"/>
          </a:p>
        </p:txBody>
      </p:sp>
      <p:sp>
        <p:nvSpPr>
          <p:cNvPr id="3" name="Text 1"/>
          <p:cNvSpPr/>
          <p:nvPr>
            <p:ph type="title"/>
          </p:nvPr>
        </p:nvSpPr>
        <p:spPr>
          <a:xfrm>
            <a:off x="812800" y="11454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1EC"/>
                </a:solidFill>
                <a:latin typeface="IBM Plex Sans" pitchFamily="34" charset="0"/>
                <a:ea typeface="IBM Plex Sans" pitchFamily="34" charset="-122"/>
                <a:cs typeface="IBM Plex Sans" pitchFamily="34" charset="-120"/>
              </a:rPr>
              <a:t>Merge na main: a esteira publica sozinha</a:t>
            </a:r>
            <a:endParaRPr lang="en-US" sz="3200" dirty="0"/>
          </a:p>
        </p:txBody>
      </p:sp>
      <p:pic>
        <p:nvPicPr>
          <p:cNvPr id="4" name="Image 0" descr="GitHub Actions, execução 112 na main com sucesso: Build, Testes, Empacotamento e Deploy na VM concluídos em 2 min 14 s">    </p:cNvPr>
          <p:cNvPicPr>
            <a:picLocks noChangeAspect="1"/>
          </p:cNvPicPr>
          <p:nvPr/>
        </p:nvPicPr>
        <p:blipFill>
          <a:blip r:embed="rId1"/>
          <a:srcRect l="-182" r="-182" t="0" b="0"/>
          <a:stretch/>
        </p:blipFill>
        <p:spPr>
          <a:xfrm>
            <a:off x="819150" y="1923951"/>
            <a:ext cx="10553700" cy="3003550"/>
          </a:xfrm>
          <a:prstGeom prst="roundRect">
            <a:avLst>
              <a:gd name="adj" fmla="val 2326"/>
            </a:avLst>
          </a:prstGeom>
        </p:spPr>
      </p:pic>
      <p:sp>
        <p:nvSpPr>
          <p:cNvPr id="5" name="Shape 2"/>
          <p:cNvSpPr/>
          <p:nvPr/>
        </p:nvSpPr>
        <p:spPr>
          <a:xfrm>
            <a:off x="815975" y="1920776"/>
            <a:ext cx="10560050" cy="3009900"/>
          </a:xfrm>
          <a:prstGeom prst="roundRect">
            <a:avLst>
              <a:gd name="adj" fmla="val 2426"/>
            </a:avLst>
          </a:prstGeom>
          <a:noFill/>
          <a:ln w="6350">
            <a:solidFill>
              <a:srgbClr val="2A3846"/>
            </a:solidFill>
            <a:prstDash val="solid"/>
          </a:ln>
        </p:spPr>
        <p:txBody>
          <a:bodyPr/>
          <a:p/>
        </p:txBody>
      </p:sp>
      <p:sp>
        <p:nvSpPr>
          <p:cNvPr id="6" name="Text 3"/>
          <p:cNvSpPr/>
          <p:nvPr/>
        </p:nvSpPr>
        <p:spPr>
          <a:xfrm>
            <a:off x="812800" y="5238651"/>
            <a:ext cx="10464800" cy="64008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C9D2D9"/>
                </a:solidFill>
                <a:latin typeface="IBM Plex Sans" pitchFamily="34" charset="0"/>
                <a:ea typeface="IBM Plex Sans" pitchFamily="34" charset="-122"/>
                <a:cs typeface="IBM Plex Sans" pitchFamily="34" charset="-120"/>
              </a:rPr>
              <a:t>Build → Testes → Empacotamento → Deploy na VM</a:t>
            </a:r>
            <a:r>
              <a:rPr lang="en-US" sz="1500" dirty="0">
                <a:solidFill>
                  <a:srgbClr val="C9D2D9"/>
                </a:solidFill>
                <a:latin typeface="IBM Plex Sans" pitchFamily="34" charset="0"/>
                <a:ea typeface="IBM Plex Sans" pitchFamily="34" charset="-122"/>
                <a:cs typeface="IBM Plex Sans" pitchFamily="34" charset="-120"/>
              </a:rPr>
              <a:t>, em 2 min 14 s. Cada etapa só começa se a anterior passou. Desde o PR #71 a esteira também publica a </a:t>
            </a:r>
            <a:r>
              <a:rPr lang="en-US" sz="1500" b="1" dirty="0">
                <a:solidFill>
                  <a:srgbClr val="C9D2D9"/>
                </a:solidFill>
                <a:latin typeface="IBM Plex Sans" pitchFamily="34" charset="0"/>
                <a:ea typeface="IBM Plex Sans" pitchFamily="34" charset="-122"/>
                <a:cs typeface="IBM Plex Sans" pitchFamily="34" charset="-120"/>
              </a:rPr>
              <a:t>Imagem Docker no GHCR</a:t>
            </a:r>
            <a:r>
              <a:rPr lang="en-US" sz="1500" dirty="0">
                <a:solidFill>
                  <a:srgbClr val="C9D2D9"/>
                </a:solidFill>
                <a:latin typeface="IBM Plex Sans" pitchFamily="34" charset="0"/>
                <a:ea typeface="IBM Plex Sans" pitchFamily="34" charset="-122"/>
                <a:cs typeface="IBM Plex Sans" pitchFamily="34" charset="-120"/>
              </a:rPr>
              <a:t>, só na main.</a:t>
            </a:r>
            <a:endParaRPr lang="en-US" sz="15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3"/>
                </a:solidFill>
                <a:latin typeface="IBM Plex Sans" pitchFamily="34" charset="0"/>
                <a:ea typeface="IBM Plex Sans" pitchFamily="34" charset="-122"/>
                <a:cs typeface="IBM Plex Sans" pitchFamily="34" charset="-120"/>
              </a:rPr>
              <a:t>Rota Vital · Infraestrutura de Software 2026.2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4978E"/>
                </a:solidFill>
                <a:latin typeface="JetBrains Mono" pitchFamily="49" charset="0"/>
                <a:ea typeface="JetBrains Mono" pitchFamily="49" charset="-122"/>
                <a:cs typeface="JetBrains Mono" pitchFamily="49" charset="-120"/>
              </a:rPr>
              <a:t>E3 · DEPLOY AUTOMATIZADO · EXECUÇÃO VERMELHA</a:t>
            </a:r>
            <a:endParaRPr lang="en-US" sz="1300" dirty="0"/>
          </a:p>
        </p:txBody>
      </p:sp>
      <p:sp>
        <p:nvSpPr>
          <p:cNvPr id="3" name="Text 1"/>
          <p:cNvSpPr/>
          <p:nvPr>
            <p:ph type="title"/>
          </p:nvPr>
        </p:nvSpPr>
        <p:spPr>
          <a:xfrm>
            <a:off x="812800" y="11454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1EC"/>
                </a:solidFill>
                <a:latin typeface="IBM Plex Sans" pitchFamily="34" charset="0"/>
                <a:ea typeface="IBM Plex Sans" pitchFamily="34" charset="-122"/>
                <a:cs typeface="IBM Plex Sans" pitchFamily="34" charset="-120"/>
              </a:rPr>
              <a:t>Teste vermelho: nada é publicado</a:t>
            </a:r>
            <a:endParaRPr lang="en-US" sz="3200" dirty="0"/>
          </a:p>
        </p:txBody>
      </p:sp>
      <p:pic>
        <p:nvPicPr>
          <p:cNvPr id="4" name="Image 0" descr="GitHub Actions, execução 126 do PR 72 com falha: Build passou, Testes falhou, Empacotamento e Deploy na VM não rodaram">    </p:cNvPr>
          <p:cNvPicPr>
            <a:picLocks noChangeAspect="1"/>
          </p:cNvPicPr>
          <p:nvPr/>
        </p:nvPicPr>
        <p:blipFill>
          <a:blip r:embed="rId1"/>
          <a:srcRect l="-184" r="-184" t="0" b="0"/>
          <a:stretch/>
        </p:blipFill>
        <p:spPr>
          <a:xfrm>
            <a:off x="819150" y="1923951"/>
            <a:ext cx="10553700" cy="2889250"/>
          </a:xfrm>
          <a:prstGeom prst="roundRect">
            <a:avLst>
              <a:gd name="adj" fmla="val 2418"/>
            </a:avLst>
          </a:prstGeom>
        </p:spPr>
      </p:pic>
      <p:sp>
        <p:nvSpPr>
          <p:cNvPr id="5" name="Shape 2"/>
          <p:cNvSpPr/>
          <p:nvPr/>
        </p:nvSpPr>
        <p:spPr>
          <a:xfrm>
            <a:off x="815975" y="1920776"/>
            <a:ext cx="10560050" cy="2895600"/>
          </a:xfrm>
          <a:prstGeom prst="roundRect">
            <a:avLst>
              <a:gd name="adj" fmla="val 2522"/>
            </a:avLst>
          </a:prstGeom>
          <a:noFill/>
          <a:ln w="6350">
            <a:solidFill>
              <a:srgbClr val="2A3846"/>
            </a:solidFill>
            <a:prstDash val="solid"/>
          </a:ln>
        </p:spPr>
        <p:txBody>
          <a:bodyPr/>
          <a:p/>
        </p:txBody>
      </p:sp>
      <p:sp>
        <p:nvSpPr>
          <p:cNvPr id="6" name="Text 3"/>
          <p:cNvSpPr/>
          <p:nvPr/>
        </p:nvSpPr>
        <p:spPr>
          <a:xfrm>
            <a:off x="812800" y="5124351"/>
            <a:ext cx="104648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2D9"/>
                </a:solidFill>
                <a:latin typeface="IBM Plex Sans" pitchFamily="34" charset="0"/>
                <a:ea typeface="IBM Plex Sans" pitchFamily="34" charset="-122"/>
                <a:cs typeface="IBM Plex Sans" pitchFamily="34" charset="-120"/>
              </a:rPr>
              <a:t>PR #72, com a regra de compatibilidade ABO/Rh quebrada de propósito: </a:t>
            </a:r>
            <a:r>
              <a:rPr lang="en-US" sz="1500" b="1" dirty="0">
                <a:solidFill>
                  <a:srgbClr val="C9D2D9"/>
                </a:solidFill>
                <a:latin typeface="IBM Plex Sans" pitchFamily="34" charset="0"/>
                <a:ea typeface="IBM Plex Sans" pitchFamily="34" charset="-122"/>
                <a:cs typeface="IBM Plex Sans" pitchFamily="34" charset="-120"/>
              </a:rPr>
              <a:t>Testes falhou</a:t>
            </a:r>
            <a:r>
              <a:rPr lang="en-US" sz="1500" dirty="0">
                <a:solidFill>
                  <a:srgbClr val="C9D2D9"/>
                </a:solidFill>
                <a:latin typeface="IBM Plex Sans" pitchFamily="34" charset="0"/>
                <a:ea typeface="IBM Plex Sans" pitchFamily="34" charset="-122"/>
                <a:cs typeface="IBM Plex Sans" pitchFamily="34" charset="-120"/>
              </a:rPr>
              <a:t>, e Empacotamento e Deploy na VM não rodaram.</a:t>
            </a:r>
            <a:endParaRPr lang="en-US" sz="15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3"/>
                </a:solidFill>
                <a:latin typeface="IBM Plex Sans" pitchFamily="34" charset="0"/>
                <a:ea typeface="IBM Plex Sans" pitchFamily="34" charset="-122"/>
                <a:cs typeface="IBM Plex Sans" pitchFamily="34" charset="-120"/>
              </a:rPr>
              <a:t>Rota Vital · Infraestrutura de Software 2026.2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4978E"/>
                </a:solidFill>
                <a:latin typeface="JetBrains Mono" pitchFamily="49" charset="0"/>
                <a:ea typeface="JetBrains Mono" pitchFamily="49" charset="-122"/>
                <a:cs typeface="JetBrains Mono" pitchFamily="49" charset="-120"/>
              </a:rPr>
              <a:t>E3 · DEPLOY AUTOMATIZADO · SEGREDOS</a:t>
            </a:r>
            <a:endParaRPr lang="en-US" sz="1300" dirty="0"/>
          </a:p>
        </p:txBody>
      </p:sp>
      <p:sp>
        <p:nvSpPr>
          <p:cNvPr id="3" name="Text 1"/>
          <p:cNvSpPr/>
          <p:nvPr>
            <p:ph type="title"/>
          </p:nvPr>
        </p:nvSpPr>
        <p:spPr>
          <a:xfrm>
            <a:off x="812800" y="11454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1EC"/>
                </a:solidFill>
                <a:latin typeface="IBM Plex Sans" pitchFamily="34" charset="0"/>
                <a:ea typeface="IBM Plex Sans" pitchFamily="34" charset="-122"/>
                <a:cs typeface="IBM Plex Sans" pitchFamily="34" charset="-120"/>
              </a:rPr>
              <a:t>Onde roda, e onde ficam os segredos</a:t>
            </a:r>
            <a:endParaRPr lang="en-US" sz="3200" dirty="0"/>
          </a:p>
        </p:txBody>
      </p:sp>
      <p:pic>
        <p:nvPicPr>
          <p:cNvPr id="4" name="Image 0" descr="GitHub, Actions secrets: VM_CHAVE_SSH, VM_HOST e VM_USUARIO cadastrados como segredos do repositório, valores ocultos">    </p:cNvPr>
          <p:cNvPicPr>
            <a:picLocks noChangeAspect="1"/>
          </p:cNvPicPr>
          <p:nvPr/>
        </p:nvPicPr>
        <p:blipFill>
          <a:blip r:embed="rId1"/>
          <a:srcRect l="-185" r="-185" t="0" b="0"/>
          <a:stretch/>
        </p:blipFill>
        <p:spPr>
          <a:xfrm>
            <a:off x="819150" y="1923951"/>
            <a:ext cx="6337300" cy="2381250"/>
          </a:xfrm>
          <a:prstGeom prst="roundRect">
            <a:avLst>
              <a:gd name="adj" fmla="val 2933"/>
            </a:avLst>
          </a:prstGeom>
        </p:spPr>
      </p:pic>
      <p:sp>
        <p:nvSpPr>
          <p:cNvPr id="5" name="Shape 2"/>
          <p:cNvSpPr/>
          <p:nvPr/>
        </p:nvSpPr>
        <p:spPr>
          <a:xfrm>
            <a:off x="815975" y="1920776"/>
            <a:ext cx="6343650" cy="2387600"/>
          </a:xfrm>
          <a:prstGeom prst="roundRect">
            <a:avLst>
              <a:gd name="adj" fmla="val 3059"/>
            </a:avLst>
          </a:prstGeom>
          <a:noFill/>
          <a:ln w="6350">
            <a:solidFill>
              <a:srgbClr val="2A3846"/>
            </a:solidFill>
            <a:prstDash val="solid"/>
          </a:ln>
        </p:spPr>
        <p:txBody>
          <a:bodyPr/>
          <a:p/>
        </p:txBody>
      </p:sp>
      <p:sp>
        <p:nvSpPr>
          <p:cNvPr id="6" name="Text 3"/>
          <p:cNvSpPr/>
          <p:nvPr/>
        </p:nvSpPr>
        <p:spPr>
          <a:xfrm>
            <a:off x="7596632" y="1917601"/>
            <a:ext cx="3890772" cy="2016125"/>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b="1" dirty="0">
                <a:solidFill>
                  <a:srgbClr val="C9D2D9"/>
                </a:solidFill>
                <a:latin typeface="IBM Plex Sans" pitchFamily="34" charset="0"/>
                <a:ea typeface="IBM Plex Sans" pitchFamily="34" charset="-122"/>
                <a:cs typeface="IBM Plex Sans" pitchFamily="34" charset="-120"/>
              </a:rPr>
              <a:t>VM no Google Cloud</a:t>
            </a:r>
            <a:r>
              <a:rPr lang="en-US" sz="1400" dirty="0">
                <a:solidFill>
                  <a:srgbClr val="C9D2D9"/>
                </a:solidFill>
                <a:latin typeface="IBM Plex Sans" pitchFamily="34" charset="0"/>
                <a:ea typeface="IBM Plex Sans" pitchFamily="34" charset="-122"/>
                <a:cs typeface="IBM Plex Sans" pitchFamily="34" charset="-120"/>
              </a:rPr>
              <a:t>, atrás do Nginx com HTTPS</a:t>
            </a:r>
            <a:endParaRPr lang="en-US" sz="1400" dirty="0"/>
          </a:p>
          <a:p>
            <a:pPr algn="l" marL="175768" indent="-175768">
              <a:lnSpc>
                <a:spcPts val="1960"/>
              </a:lnSpc>
              <a:buSzPct val="100000"/>
              <a:buChar char="•"/>
            </a:pPr>
            <a:r>
              <a:rPr lang="en-US" sz="1400" dirty="0">
                <a:solidFill>
                  <a:srgbClr val="C9D2D9"/>
                </a:solidFill>
                <a:latin typeface="IBM Plex Sans" pitchFamily="34" charset="0"/>
                <a:ea typeface="IBM Plex Sans" pitchFamily="34" charset="-122"/>
                <a:cs typeface="IBM Plex Sans" pitchFamily="34" charset="-120"/>
              </a:rPr>
              <a:t>A aplicação escuta só em </a:t>
            </a:r>
            <a:r>
              <a:rPr lang="en-US" sz="1400" b="1" dirty="0">
                <a:solidFill>
                  <a:srgbClr val="C9D2D9"/>
                </a:solidFill>
                <a:latin typeface="IBM Plex Sans" pitchFamily="34" charset="0"/>
                <a:ea typeface="IBM Plex Sans" pitchFamily="34" charset="-122"/>
                <a:cs typeface="IBM Plex Sans" pitchFamily="34" charset="-120"/>
              </a:rPr>
              <a:t>127.0.0.1:8081</a:t>
            </a:r>
            <a:r>
              <a:rPr lang="en-US" sz="1400" dirty="0">
                <a:solidFill>
                  <a:srgbClr val="C9D2D9"/>
                </a:solidFill>
                <a:latin typeface="IBM Plex Sans" pitchFamily="34" charset="0"/>
                <a:ea typeface="IBM Plex Sans" pitchFamily="34" charset="-122"/>
                <a:cs typeface="IBM Plex Sans" pitchFamily="34" charset="-120"/>
              </a:rPr>
              <a:t>: a única entrada é o Nginx</a:t>
            </a:r>
            <a:endParaRPr lang="en-US" sz="1400" dirty="0"/>
          </a:p>
          <a:p>
            <a:pPr algn="l" marL="175768" indent="-175768">
              <a:lnSpc>
                <a:spcPts val="1960"/>
              </a:lnSpc>
              <a:buSzPct val="100000"/>
              <a:buChar char="•"/>
            </a:pPr>
            <a:r>
              <a:rPr lang="en-US" sz="1400" dirty="0">
                <a:solidFill>
                  <a:srgbClr val="C9D2D9"/>
                </a:solidFill>
                <a:latin typeface="IBM Plex Sans" pitchFamily="34" charset="0"/>
                <a:ea typeface="IBM Plex Sans" pitchFamily="34" charset="-122"/>
                <a:cs typeface="IBM Plex Sans" pitchFamily="34" charset="-120"/>
              </a:rPr>
              <a:t>Host, usuário e chave SSH ficam no </a:t>
            </a:r>
            <a:r>
              <a:rPr lang="en-US" sz="1400" b="1" dirty="0">
                <a:solidFill>
                  <a:srgbClr val="C9D2D9"/>
                </a:solidFill>
                <a:latin typeface="IBM Plex Sans" pitchFamily="34" charset="0"/>
                <a:ea typeface="IBM Plex Sans" pitchFamily="34" charset="-122"/>
                <a:cs typeface="IBM Plex Sans" pitchFamily="34" charset="-120"/>
              </a:rPr>
              <a:t>cofre do GitHub</a:t>
            </a:r>
            <a:r>
              <a:rPr lang="en-US" sz="1400" dirty="0">
                <a:solidFill>
                  <a:srgbClr val="C9D2D9"/>
                </a:solidFill>
                <a:latin typeface="IBM Plex Sans" pitchFamily="34" charset="0"/>
                <a:ea typeface="IBM Plex Sans" pitchFamily="34" charset="-122"/>
                <a:cs typeface="IBM Plex Sans" pitchFamily="34" charset="-120"/>
              </a:rPr>
              <a:t>, nunca no repositório</a:t>
            </a:r>
            <a:endParaRPr lang="en-US" sz="1400" dirty="0"/>
          </a:p>
          <a:p>
            <a:pPr algn="l" marL="175768" indent="-175768">
              <a:lnSpc>
                <a:spcPts val="1960"/>
              </a:lnSpc>
              <a:buSzPct val="100000"/>
              <a:buChar char="•"/>
            </a:pPr>
            <a:r>
              <a:rPr lang="en-US" sz="1400" b="1" dirty="0">
                <a:solidFill>
                  <a:srgbClr val="C9D2D9"/>
                </a:solidFill>
                <a:latin typeface="IBM Plex Sans" pitchFamily="34" charset="0"/>
                <a:ea typeface="IBM Plex Sans" pitchFamily="34" charset="-122"/>
                <a:cs typeface="IBM Plex Sans" pitchFamily="34" charset="-120"/>
              </a:rPr>
              <a:t>Rollback:</a:t>
            </a:r>
            <a:r>
              <a:rPr lang="en-US" sz="1400" dirty="0">
                <a:solidFill>
                  <a:srgbClr val="C9D2D9"/>
                </a:solidFill>
                <a:latin typeface="IBM Plex Sans" pitchFamily="34" charset="0"/>
                <a:ea typeface="IBM Plex Sans" pitchFamily="34" charset="-122"/>
                <a:cs typeface="IBM Plex Sans" pitchFamily="34" charset="-120"/>
              </a:rPr>
              <a:t> o publicar.sh guarda o jar anterior; voltar é copiar e reiniciar</a:t>
            </a:r>
            <a:endParaRPr lang="en-US" sz="14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3"/>
                </a:solidFill>
                <a:latin typeface="IBM Plex Sans" pitchFamily="34" charset="0"/>
                <a:ea typeface="IBM Plex Sans" pitchFamily="34" charset="-122"/>
                <a:cs typeface="IBM Plex Sans" pitchFamily="34" charset="-120"/>
              </a:rPr>
              <a:t>Rota Vital · Infraestrutura de Software 2026.2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8261D"/>
                </a:solidFill>
                <a:latin typeface="JetBrains Mono" pitchFamily="49" charset="0"/>
                <a:ea typeface="JetBrains Mono" pitchFamily="49" charset="-122"/>
                <a:cs typeface="JetBrains Mono" pitchFamily="49" charset="-120"/>
              </a:rPr>
              <a:t>E3 · O PROBLEMA QUE ENCONTRAMOS</a:t>
            </a:r>
            <a:endParaRPr lang="en-US" sz="1300" dirty="0"/>
          </a:p>
        </p:txBody>
      </p:sp>
      <p:sp>
        <p:nvSpPr>
          <p:cNvPr id="3" name="Text 1"/>
          <p:cNvSpPr/>
          <p:nvPr>
            <p:ph type="title"/>
          </p:nvPr>
        </p:nvSpPr>
        <p:spPr>
          <a:xfrm>
            <a:off x="812800" y="11454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O container funciona; a VM não tem memória para ele</a:t>
            </a:r>
            <a:endParaRPr lang="en-US" sz="3200" dirty="0"/>
          </a:p>
        </p:txBody>
      </p:sp>
      <p:sp>
        <p:nvSpPr>
          <p:cNvPr id="4" name="Shape 2"/>
          <p:cNvSpPr/>
          <p:nvPr/>
        </p:nvSpPr>
        <p:spPr>
          <a:xfrm>
            <a:off x="812800" y="1866801"/>
            <a:ext cx="10566400" cy="2350516"/>
          </a:xfrm>
          <a:prstGeom prst="rect">
            <a:avLst/>
          </a:prstGeom>
          <a:solidFill>
            <a:srgbClr val="FFFDF9"/>
          </a:solidFill>
          <a:ln/>
        </p:spPr>
        <p:txBody>
          <a:bodyPr/>
          <a:p/>
        </p:txBody>
      </p:sp>
      <p:sp>
        <p:nvSpPr>
          <p:cNvPr id="5" name="Shape 3"/>
          <p:cNvSpPr/>
          <p:nvPr/>
        </p:nvSpPr>
        <p:spPr>
          <a:xfrm>
            <a:off x="11376025" y="1866801"/>
            <a:ext cx="0" cy="2350516"/>
          </a:xfrm>
          <a:prstGeom prst="line">
            <a:avLst/>
          </a:prstGeom>
          <a:noFill/>
          <a:ln w="6350">
            <a:solidFill>
              <a:srgbClr val="DDD8CE"/>
            </a:solidFill>
            <a:prstDash val="solid"/>
          </a:ln>
        </p:spPr>
        <p:txBody>
          <a:bodyPr/>
          <a:p/>
        </p:txBody>
      </p:sp>
      <p:sp>
        <p:nvSpPr>
          <p:cNvPr id="6" name="Shape 4"/>
          <p:cNvSpPr/>
          <p:nvPr/>
        </p:nvSpPr>
        <p:spPr>
          <a:xfrm>
            <a:off x="812800" y="4214142"/>
            <a:ext cx="10566400" cy="0"/>
          </a:xfrm>
          <a:prstGeom prst="line">
            <a:avLst/>
          </a:prstGeom>
          <a:noFill/>
          <a:ln w="6350">
            <a:solidFill>
              <a:srgbClr val="DDD8CE"/>
            </a:solidFill>
            <a:prstDash val="solid"/>
          </a:ln>
        </p:spPr>
        <p:txBody>
          <a:body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79501"/>
          <a:ext cx="10547350" cy="2660650"/>
        </p:xfrm>
        <a:graphic>
          <a:graphicData uri="http://schemas.openxmlformats.org/drawingml/2006/table">
            <a:tbl>
              <a:tblPr/>
              <a:tblGrid>
                <a:gridCol w="2531364"/>
                <a:gridCol w="8015986"/>
              </a:tblGrid>
              <a:tr h="332581">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Memória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Medida (free -m na VM, 20/10/2026)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Total da 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955 MB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296 MB: o resto sustenta o Nginx, o serviço da aplicação e outro projeto hospedado na mesma máquina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Container da aplicação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330 MB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Container do PostgreSQL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100 MB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Daemon do Docker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80 MB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b="1">
                          <a:solidFill>
                            <a:srgbClr val="14202B"/>
                          </a:solidFill>
                          <a:latin typeface="IBM Plex Sans" pitchFamily="34" charset="0"/>
                          <a:ea typeface="IBM Plex Sans" pitchFamily="34" charset="-122"/>
                          <a:cs typeface="IBM Plex Sans" pitchFamily="34" charset="-120"/>
                        </a:rPr>
                        <a:t>Containers somados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b="1">
                          <a:solidFill>
                            <a:srgbClr val="14202B"/>
                          </a:solidFill>
                          <a:latin typeface="IBM Plex Sans" pitchFamily="34" charset="0"/>
                          <a:ea typeface="IBM Plex Sans" pitchFamily="34" charset="-122"/>
                          <a:cs typeface="IBM Plex Sans" pitchFamily="34" charset="-120"/>
                        </a:rPr>
                        <a:t>≈ 510 MB, contra 296 livres: o kernel mataria o processo mais pesado, a JVM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Rota Vital · Infraestrutura de Software 2026.2 · 10</a:t>
            </a:r>
            <a:endParaRPr lang="en-US" sz="1200" dirty="0"/>
          </a:p>
        </p:txBody>
      </p:sp>
      <p:sp>
        <p:nvSpPr>
          <p:cNvPr id="9" name="Text 5"/>
          <p:cNvSpPr/>
          <p:nvPr/>
        </p:nvSpPr>
        <p:spPr>
          <a:xfrm>
            <a:off x="813816" y="4526280"/>
            <a:ext cx="10561320" cy="1097280"/>
          </a:xfrm>
          <a:prstGeom prst="rect">
            <a:avLst/>
          </a:prstGeom>
          <a:noFill/>
          <a:ln/>
        </p:spPr>
        <p:txBody>
          <a:bodyPr wrap="square" lIns="0" tIns="0" rIns="0" bIns="0" rtlCol="0" anchor="t">
            <a:normAutofit/>
          </a:bodyPr>
          <a:lstStyle/>
          <a:p>
            <a:pPr algn="l" indent="0" marL="0">
              <a:lnSpc>
                <a:spcPts val="1680"/>
              </a:lnSpc>
              <a:buNone/>
            </a:pPr>
            <a:r>
              <a:rPr lang="en-US" sz="1500" dirty="0" b="1">
                <a:solidFill>
                  <a:srgbClr val="4E5A64"/>
                </a:solidFill>
                <a:latin typeface="IBM Plex Sans" pitchFamily="34" charset="0"/>
                <a:ea typeface="IBM Plex Sans" pitchFamily="34" charset="-122"/>
                <a:cs typeface="IBM Plex Sans" pitchFamily="34" charset="-120"/>
              </a:rPr>
              <a:t>A decisão: separar construir de entregar. </a:t>
            </a:r>
            <a:r>
              <a:rPr lang="en-US" sz="1500" dirty="0">
                <a:solidFill>
                  <a:srgbClr val="4E5A64"/>
                </a:solidFill>
                <a:latin typeface="IBM Plex Sans" pitchFamily="34" charset="0"/>
                <a:ea typeface="IBM Plex Sans" pitchFamily="34" charset="-122"/>
                <a:cs typeface="IBM Plex Sans" pitchFamily="34" charset="-120"/>
              </a:rPr>
              <a:t>A esteira constrói e publica a imagem no GHCR a cada merge, versionada por commit; o deploy entrega o jar. O deploy por container entra quando houver uma VM maior, com o Nginx atual como proxy reverso.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E9E5D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8261D"/>
                </a:solidFill>
                <a:latin typeface="JetBrains Mono" pitchFamily="49" charset="0"/>
                <a:ea typeface="JetBrains Mono" pitchFamily="49" charset="-122"/>
                <a:cs typeface="JetBrains Mono" pitchFamily="49" charset="-120"/>
              </a:rPr>
              <a:t>E3 · URL PÚBLICA</a:t>
            </a:r>
            <a:endParaRPr lang="en-US" sz="1300" dirty="0"/>
          </a:p>
        </p:txBody>
      </p:sp>
      <p:sp>
        <p:nvSpPr>
          <p:cNvPr id="3" name="Text 1"/>
          <p:cNvSpPr/>
          <p:nvPr>
            <p:ph type="title"/>
          </p:nvPr>
        </p:nvSpPr>
        <p:spPr>
          <a:xfrm>
            <a:off x="812800" y="11454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No ar em rsc3-rotavital.duckdns.org</a:t>
            </a:r>
            <a:endParaRPr lang="en-US" sz="3200" dirty="0"/>
          </a:p>
        </p:txBody>
      </p:sp>
      <p:pic>
        <p:nvPicPr>
          <p:cNvPr id="4" name="Image 0" descr="Navegador em rsc3-rotavital.duckdns.org/actuator/health mostrando status UP">    </p:cNvPr>
          <p:cNvPicPr>
            <a:picLocks noChangeAspect="1"/>
          </p:cNvPicPr>
          <p:nvPr/>
        </p:nvPicPr>
        <p:blipFill>
          <a:blip r:embed="rId1"/>
          <a:srcRect l="-343" r="-343" t="0" b="0"/>
          <a:stretch/>
        </p:blipFill>
        <p:spPr>
          <a:xfrm>
            <a:off x="819150" y="1873151"/>
            <a:ext cx="4051300" cy="1511300"/>
          </a:xfrm>
          <a:prstGeom prst="roundRect">
            <a:avLst>
              <a:gd name="adj" fmla="val 4622"/>
            </a:avLst>
          </a:prstGeom>
        </p:spPr>
      </p:pic>
      <p:sp>
        <p:nvSpPr>
          <p:cNvPr id="5" name="Shape 2"/>
          <p:cNvSpPr/>
          <p:nvPr/>
        </p:nvSpPr>
        <p:spPr>
          <a:xfrm>
            <a:off x="815975" y="1869976"/>
            <a:ext cx="4057650" cy="1517650"/>
          </a:xfrm>
          <a:prstGeom prst="roundRect">
            <a:avLst>
              <a:gd name="adj" fmla="val 4812"/>
            </a:avLst>
          </a:prstGeom>
          <a:noFill/>
          <a:ln w="6350">
            <a:solidFill>
              <a:srgbClr val="14202B"/>
            </a:solidFill>
            <a:prstDash val="solid"/>
          </a:ln>
        </p:spPr>
        <p:txBody>
          <a:bodyPr/>
          <a:p/>
        </p:txBody>
      </p:sp>
      <p:sp>
        <p:nvSpPr>
          <p:cNvPr id="6" name="Text 3"/>
          <p:cNvSpPr/>
          <p:nvPr/>
        </p:nvSpPr>
        <p:spPr>
          <a:xfrm>
            <a:off x="812800" y="3517801"/>
            <a:ext cx="418592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5A64"/>
                </a:solidFill>
                <a:latin typeface="IBM Plex Sans" pitchFamily="34" charset="0"/>
                <a:ea typeface="IBM Plex Sans" pitchFamily="34" charset="-122"/>
                <a:cs typeface="IBM Plex Sans" pitchFamily="34" charset="-120"/>
              </a:rPr>
              <a:t>/actuator/health responde </a:t>
            </a:r>
            <a:r>
              <a:rPr lang="en-US" sz="1300" b="1" dirty="0">
                <a:solidFill>
                  <a:srgbClr val="4E5A64"/>
                </a:solidFill>
                <a:latin typeface="IBM Plex Sans" pitchFamily="34" charset="0"/>
                <a:ea typeface="IBM Plex Sans" pitchFamily="34" charset="-122"/>
                <a:cs typeface="IBM Plex Sans" pitchFamily="34" charset="-120"/>
              </a:rPr>
              <a:t>UP</a:t>
            </a:r>
            <a:r>
              <a:rPr lang="en-US" sz="1300" dirty="0">
                <a:solidFill>
                  <a:srgbClr val="4E5A64"/>
                </a:solidFill>
                <a:latin typeface="IBM Plex Sans" pitchFamily="34" charset="0"/>
                <a:ea typeface="IBM Plex Sans" pitchFamily="34" charset="-122"/>
                <a:cs typeface="IBM Plex Sans" pitchFamily="34" charset="-120"/>
              </a:rPr>
              <a:t>: é o que a esteira confere depois de cada deploy</a:t>
            </a:r>
            <a:endParaRPr lang="en-US" sz="1300" dirty="0"/>
          </a:p>
        </p:txBody>
      </p:sp>
      <p:pic>
        <p:nvPicPr>
          <p:cNvPr id="7" name="Image 1" descr="Painel de indicadores do Rota Vital na URL pública: 100 bolsas em estoque e estoque por tipo sanguíneo">    </p:cNvPr>
          <p:cNvPicPr>
            <a:picLocks noChangeAspect="1"/>
          </p:cNvPicPr>
          <p:nvPr/>
        </p:nvPicPr>
        <p:blipFill>
          <a:blip r:embed="rId2"/>
          <a:stretch>
            <a:fillRect/>
          </a:stretch>
        </p:blipFill>
        <p:spPr>
          <a:xfrm>
            <a:off x="5573434" y="1873151"/>
            <a:ext cx="5515531" cy="3289300"/>
          </a:xfrm>
          <a:prstGeom prst="rect">
            <a:avLst/>
          </a:prstGeom>
        </p:spPr>
      </p:pic>
      <p:sp>
        <p:nvSpPr>
          <p:cNvPr id="8" name="Shape 4"/>
          <p:cNvSpPr/>
          <p:nvPr/>
        </p:nvSpPr>
        <p:spPr>
          <a:xfrm>
            <a:off x="5286375" y="1869976"/>
            <a:ext cx="6089650" cy="3295650"/>
          </a:xfrm>
          <a:prstGeom prst="roundRect">
            <a:avLst>
              <a:gd name="adj" fmla="val 2216"/>
            </a:avLst>
          </a:prstGeom>
          <a:noFill/>
          <a:ln w="6350">
            <a:solidFill>
              <a:srgbClr val="CFC8BA"/>
            </a:solidFill>
            <a:prstDash val="solid"/>
          </a:ln>
        </p:spPr>
        <p:txBody>
          <a:bodyPr/>
          <a:p/>
        </p:txBody>
      </p:sp>
      <p:sp>
        <p:nvSpPr>
          <p:cNvPr id="9" name="Text 5"/>
          <p:cNvSpPr/>
          <p:nvPr/>
        </p:nvSpPr>
        <p:spPr>
          <a:xfrm>
            <a:off x="5283200" y="5295801"/>
            <a:ext cx="627888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E5A64"/>
                </a:solidFill>
                <a:latin typeface="IBM Plex Sans" pitchFamily="34" charset="0"/>
                <a:ea typeface="IBM Plex Sans" pitchFamily="34" charset="-122"/>
                <a:cs typeface="IBM Plex Sans" pitchFamily="34" charset="-120"/>
              </a:rPr>
              <a:t>/painel.html · indicadores calculados a partir do estoque (dados sintéticos)</a:t>
            </a:r>
            <a:endParaRPr lang="en-US" sz="1300" dirty="0"/>
          </a:p>
        </p:txBody>
      </p:sp>
      <p:sp>
        <p:nvSpPr>
          <p:cNvPr id="10"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Rota Vital · Infraestrutura de Software 2026.2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A8261D"/>
                </a:solidFill>
                <a:latin typeface="JetBrains Mono" pitchFamily="49" charset="0"/>
                <a:ea typeface="JetBrains Mono" pitchFamily="49" charset="-122"/>
                <a:cs typeface="JetBrains Mono" pitchFamily="49" charset="-120"/>
              </a:rPr>
              <a:t>DECISÕES</a:t>
            </a:r>
            <a:endParaRPr lang="en-US" sz="1300" dirty="0"/>
          </a:p>
        </p:txBody>
      </p:sp>
      <p:sp>
        <p:nvSpPr>
          <p:cNvPr id="3" name="Text 1"/>
          <p:cNvSpPr/>
          <p:nvPr>
            <p:ph type="title"/>
          </p:nvPr>
        </p:nvSpPr>
        <p:spPr>
          <a:xfrm>
            <a:off x="812800" y="114548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O que escolhemos, e por quê</a:t>
            </a:r>
            <a:endParaRPr lang="en-US" sz="3200" dirty="0"/>
          </a:p>
        </p:txBody>
      </p:sp>
      <p:sp>
        <p:nvSpPr>
          <p:cNvPr id="4" name="Shape 2"/>
          <p:cNvSpPr/>
          <p:nvPr/>
        </p:nvSpPr>
        <p:spPr>
          <a:xfrm>
            <a:off x="812800" y="1866801"/>
            <a:ext cx="10566400" cy="3008884"/>
          </a:xfrm>
          <a:prstGeom prst="rect">
            <a:avLst/>
          </a:prstGeom>
          <a:solidFill>
            <a:srgbClr val="FFFDF9"/>
          </a:solidFill>
          <a:ln/>
        </p:spPr>
        <p:txBody>
          <a:bodyPr/>
          <a:p/>
        </p:txBody>
      </p:sp>
      <p:sp>
        <p:nvSpPr>
          <p:cNvPr id="5" name="Shape 3"/>
          <p:cNvSpPr/>
          <p:nvPr/>
        </p:nvSpPr>
        <p:spPr>
          <a:xfrm>
            <a:off x="11376025" y="1866801"/>
            <a:ext cx="0" cy="3008884"/>
          </a:xfrm>
          <a:prstGeom prst="line">
            <a:avLst/>
          </a:prstGeom>
          <a:noFill/>
          <a:ln w="6350">
            <a:solidFill>
              <a:srgbClr val="DDD8CE"/>
            </a:solidFill>
            <a:prstDash val="solid"/>
          </a:ln>
        </p:spPr>
        <p:txBody>
          <a:bodyPr/>
          <a:p/>
        </p:txBody>
      </p:sp>
      <p:sp>
        <p:nvSpPr>
          <p:cNvPr id="6" name="Shape 4"/>
          <p:cNvSpPr/>
          <p:nvPr/>
        </p:nvSpPr>
        <p:spPr>
          <a:xfrm>
            <a:off x="812800" y="4872510"/>
            <a:ext cx="10566400" cy="0"/>
          </a:xfrm>
          <a:prstGeom prst="line">
            <a:avLst/>
          </a:prstGeom>
          <a:noFill/>
          <a:ln w="6350">
            <a:solidFill>
              <a:srgbClr val="DDD8CE"/>
            </a:solidFill>
            <a:prstDash val="solid"/>
          </a:ln>
        </p:spPr>
        <p:txBody>
          <a:body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1879501"/>
          <a:ext cx="10547350" cy="2660650"/>
        </p:xfrm>
        <a:graphic>
          <a:graphicData uri="http://schemas.openxmlformats.org/drawingml/2006/table">
            <a:tbl>
              <a:tblPr/>
              <a:tblGrid>
                <a:gridCol w="2531364"/>
                <a:gridCol w="8015986"/>
              </a:tblGrid>
              <a:tr h="332581">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Decisão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Por quê</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JRE 21 Alpine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Executar não exige compilador; Alpine é menor e tem menos pacotes vulneráveis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Build multi-stage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A imagem final não leva Maven nem código-fonte, e nenhuma imagem existe sem os testes passarem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Volume nomeado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Os dados sobrevivem ao docker compose down, em qualquer sistema operacional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Testes por risco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Compatibilidade ABO/Rh primeiro: um erro ali oferece bolsa incompatível como válida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GitHub Flow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Grupo pequeno, uma versão no ar e deploy a cada merge, com branch curta e pull request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GitHub Actions + VM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O código já está no GitHub; a VM já tinha HTTPS e domínio, e fica sempre no 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Segredos no cofre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Quem clona o repositório não recebe credencial nenhuma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2581">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Jar na VM, imagem no GHCR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c>
                  <a:txBody>
                    <a:bodyPr/>
                    <a:lstStyle/>
                    <a:p>
                      <a:pPr indent="0" marL="0">
                        <a:lnSpc>
                          <a:spcPts val="1680"/>
                        </a:lnSpc>
                        <a:buNone/>
                      </a:pPr>
                      <a:r>
                        <a:rPr lang="en-US" sz="1200" dirty="0">
                          <a:solidFill>
                            <a:srgbClr val="14202B"/>
                          </a:solidFill>
                          <a:latin typeface="IBM Plex Sans" pitchFamily="34" charset="0"/>
                          <a:ea typeface="IBM Plex Sans" pitchFamily="34" charset="-122"/>
                          <a:cs typeface="IBM Plex Sans" pitchFamily="34" charset="-120"/>
                        </a:rPr>
                        <a:t>A VM tem 296 MB livres e os containers pedem ~510 MB; a imagem fica pronta, versionada por commit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BE3"/>
                    </a:solidFill>
                  </a:tcPr>
                </a:tc>
              </a:tr>
            </a:tbl>
          </a:graphicData>
        </a:graphic>
      </p:graphicFrame>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0"/>
                </a:solidFill>
                <a:latin typeface="IBM Plex Sans" pitchFamily="34" charset="0"/>
                <a:ea typeface="IBM Plex Sans" pitchFamily="34" charset="-122"/>
                <a:cs typeface="IBM Plex Sans" pitchFamily="34" charset="-120"/>
              </a:rPr>
              <a:t>Rota Vital · Infraestrutura de Software 2026.2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4202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B3261E"/>
          </a:solidFill>
          <a:ln/>
        </p:spPr>
        <p:txBody>
          <a:bodyPr/>
          <a:p/>
        </p:txBody>
      </p:sp>
      <p:sp>
        <p:nvSpPr>
          <p:cNvPr id="3" name="Text 1"/>
          <p:cNvSpPr/>
          <p:nvPr>
            <p:ph type="title"/>
          </p:nvPr>
        </p:nvSpPr>
        <p:spPr>
          <a:xfrm>
            <a:off x="812800" y="81280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3F1EC"/>
                </a:solidFill>
                <a:latin typeface="IBM Plex Sans" pitchFamily="34" charset="0"/>
                <a:ea typeface="IBM Plex Sans" pitchFamily="34" charset="-122"/>
                <a:cs typeface="IBM Plex Sans" pitchFamily="34" charset="-120"/>
              </a:rPr>
              <a:t>Obrigado</a:t>
            </a:r>
            <a:endParaRPr lang="en-US" sz="4800" dirty="0"/>
          </a:p>
        </p:txBody>
      </p:sp>
      <p:sp>
        <p:nvSpPr>
          <p:cNvPr id="4" name="Text 2"/>
          <p:cNvSpPr/>
          <p:nvPr/>
        </p:nvSpPr>
        <p:spPr>
          <a:xfrm>
            <a:off x="812800" y="2973784"/>
            <a:ext cx="5284724"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4978E"/>
                </a:solidFill>
                <a:latin typeface="JetBrains Mono" pitchFamily="49" charset="0"/>
                <a:ea typeface="JetBrains Mono" pitchFamily="49" charset="-122"/>
                <a:cs typeface="JetBrains Mono" pitchFamily="49" charset="-120"/>
              </a:rPr>
              <a:t>REPOSITÓRIO</a:t>
            </a:r>
            <a:endParaRPr lang="en-US" sz="1300" dirty="0"/>
          </a:p>
        </p:txBody>
      </p:sp>
      <p:sp>
        <p:nvSpPr>
          <p:cNvPr id="5" name="Text 3"/>
          <p:cNvSpPr/>
          <p:nvPr/>
        </p:nvSpPr>
        <p:spPr>
          <a:xfrm>
            <a:off x="812800" y="3281065"/>
            <a:ext cx="528472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3F1EC"/>
                </a:solidFill>
                <a:latin typeface="IBM Plex Sans" pitchFamily="34" charset="0"/>
                <a:ea typeface="IBM Plex Sans" pitchFamily="34" charset="-122"/>
                <a:cs typeface="IBM Plex Sans" pitchFamily="34" charset="-120"/>
              </a:rPr>
              <a:t>github.com/rsc3-pixel/Projeto3-2026.2</a:t>
            </a:r>
            <a:endParaRPr lang="en-US" sz="1700" dirty="0"/>
          </a:p>
        </p:txBody>
      </p:sp>
      <p:sp>
        <p:nvSpPr>
          <p:cNvPr id="6" name="Text 4"/>
          <p:cNvSpPr/>
          <p:nvPr/>
        </p:nvSpPr>
        <p:spPr>
          <a:xfrm>
            <a:off x="6248400" y="2973784"/>
            <a:ext cx="5284724"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F4978E"/>
                </a:solidFill>
                <a:latin typeface="JetBrains Mono" pitchFamily="49" charset="0"/>
                <a:ea typeface="JetBrains Mono" pitchFamily="49" charset="-122"/>
                <a:cs typeface="JetBrains Mono" pitchFamily="49" charset="-120"/>
              </a:rPr>
              <a:t>NO AR</a:t>
            </a:r>
            <a:endParaRPr lang="en-US" sz="1300" dirty="0"/>
          </a:p>
        </p:txBody>
      </p:sp>
      <p:sp>
        <p:nvSpPr>
          <p:cNvPr id="7" name="Text 5"/>
          <p:cNvSpPr/>
          <p:nvPr/>
        </p:nvSpPr>
        <p:spPr>
          <a:xfrm>
            <a:off x="6248400" y="3281065"/>
            <a:ext cx="528472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3F1EC"/>
                </a:solidFill>
                <a:latin typeface="IBM Plex Sans" pitchFamily="34" charset="0"/>
                <a:ea typeface="IBM Plex Sans" pitchFamily="34" charset="-122"/>
                <a:cs typeface="IBM Plex Sans" pitchFamily="34" charset="-120"/>
              </a:rPr>
              <a:t>rsc3-rotavital.duckdns.org</a:t>
            </a:r>
            <a:endParaRPr lang="en-US" sz="1700" dirty="0"/>
          </a:p>
        </p:txBody>
      </p:sp>
      <p:sp>
        <p:nvSpPr>
          <p:cNvPr id="8" name="Shape 6"/>
          <p:cNvSpPr/>
          <p:nvPr/>
        </p:nvSpPr>
        <p:spPr>
          <a:xfrm>
            <a:off x="812800" y="5076825"/>
            <a:ext cx="10566400" cy="0"/>
          </a:xfrm>
          <a:prstGeom prst="line">
            <a:avLst/>
          </a:prstGeom>
          <a:noFill/>
          <a:ln w="6350">
            <a:solidFill>
              <a:srgbClr val="33465A"/>
            </a:solidFill>
            <a:prstDash val="solid"/>
          </a:ln>
        </p:spPr>
        <p:txBody>
          <a:bodyPr/>
          <a:p/>
        </p:txBody>
      </p:sp>
      <p:sp>
        <p:nvSpPr>
          <p:cNvPr id="9" name="Text 7"/>
          <p:cNvSpPr/>
          <p:nvPr/>
        </p:nvSpPr>
        <p:spPr>
          <a:xfrm>
            <a:off x="812800" y="5283200"/>
            <a:ext cx="104648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7C2CB"/>
                </a:solidFill>
                <a:latin typeface="IBM Plex Sans" pitchFamily="34" charset="0"/>
                <a:ea typeface="IBM Plex Sans" pitchFamily="34" charset="-122"/>
                <a:cs typeface="IBM Plex Sans" pitchFamily="34" charset="-120"/>
              </a:rPr>
              <a:t>Projeto acadêmico: dados sintéticos, telemetria simulada e compatibilidade ABO/Rh didática, que não substitui protocolo clínico.</a:t>
            </a:r>
            <a:endParaRPr lang="en-US" sz="1200" dirty="0"/>
          </a:p>
        </p:txBody>
      </p:sp>
      <p:sp>
        <p:nvSpPr>
          <p:cNvPr id="10" name="Text 8"/>
          <p:cNvSpPr/>
          <p:nvPr/>
        </p:nvSpPr>
        <p:spPr>
          <a:xfrm>
            <a:off x="812800" y="5588000"/>
            <a:ext cx="1046480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7C2CB"/>
                </a:solidFill>
                <a:latin typeface="IBM Plex Sans" pitchFamily="34" charset="0"/>
                <a:ea typeface="IBM Plex Sans" pitchFamily="34" charset="-122"/>
                <a:cs typeface="IBM Plex Sans" pitchFamily="34" charset="-120"/>
              </a:rPr>
              <a:t>Uso de IA declarado: ferramentas de IA generativa apoiaram a revisão de requisitos, a documentação e o desenvolvimento; todo o conteúdo foi revisado e validado pelo grupo.</a:t>
            </a:r>
            <a:endParaRPr lang="en-US" sz="1200" dirty="0"/>
          </a:p>
        </p:txBody>
      </p:sp>
    </p:spTree>
  </p:cSld>
  <p:clrMapOvr>
    <a:masterClrMapping/>
  </p:clrMapOvr>
</p:sld>
</file>

<file path=ppt/theme/theme1.xml><?xml version="1.0" encoding="utf-8"?>
<a:theme xmlns:a="http://schemas.openxmlformats.org/drawingml/2006/main" name="Rota Vital — Container, TDD e Deploy">
  <a:themeElements>
    <a:clrScheme name="Rota Vital — Container, TDD e Deploy">
      <a:dk1>
        <a:srgbClr val="0F1720"/>
      </a:dk1>
      <a:lt1>
        <a:srgbClr val="C9D2D9"/>
      </a:lt1>
      <a:dk2>
        <a:srgbClr val="222A33"/>
      </a:dk2>
      <a:lt2>
        <a:srgbClr val="9BA3AB"/>
      </a:lt2>
      <a:accent1>
        <a:srgbClr val="F4978E"/>
      </a:accent1>
      <a:accent2>
        <a:srgbClr val="A8261D"/>
      </a:accent2>
      <a:accent3>
        <a:srgbClr val="B3261E"/>
      </a:accent3>
      <a:accent4>
        <a:srgbClr val="9FD8B0"/>
      </a:accent4>
      <a:accent5>
        <a:srgbClr val="4E5A64"/>
      </a:accent5>
      <a:accent6>
        <a:srgbClr val="6B7680"/>
      </a:accent6>
      <a:hlink>
        <a:srgbClr val="0563C1"/>
      </a:hlink>
      <a:folHlink>
        <a:srgbClr val="954F72"/>
      </a:folHlink>
    </a:clrScheme>
    <a:fontScheme name="Rota Vital — Container, TDD e Deploy">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Rota Vital — Container, TDD e Deploy</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2026-10-20T18:39:53Z</dcterms:created>
  <dcterms:modified xsi:type="dcterms:W3CDTF">2026-10-20T18:39:53Z</dcterms:modified>
</cp:coreProperties>
</file>