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d63e0ed-0afc-aa01-eef6-80a2673b9023}">
          <p14:sldIdLst>
            <p14:sldId id="256"/>
          </p14:sldIdLst>
        </p14:section>
        <p14:section name="Contexto" id="{e52f479c-fbad-cefd-56aa-5ca7c6f09449}">
          <p14:sldIdLst>
            <p14:sldId id="257"/>
            <p14:sldId id="258"/>
          </p14:sldIdLst>
        </p14:section>
        <p14:section name="E1 · Container" id="{047bfdc4-bde5-ee33-f8dd-7d841c60f983}">
          <p14:sldIdLst>
            <p14:sldId id="259"/>
            <p14:sldId id="260"/>
          </p14:sldIdLst>
        </p14:section>
        <p14:section name="E2 · TDD" id="{92dbcf1f-c4d1-97e4-ec2d-33ddafb70848}">
          <p14:sldIdLst>
            <p14:sldId id="261"/>
            <p14:sldId id="262"/>
            <p14:sldId id="263"/>
            <p14:sldId id="264"/>
          </p14:sldIdLst>
        </p14:section>
        <p14:section name="E3 · Deploy" id="{0815175e-9dda-9e99-7dbb-b8c35c0b19bd}">
          <p14:sldIdLst>
            <p14:sldId id="265"/>
            <p14:sldId id="266"/>
            <p14:sldId id="267"/>
            <p14:sldId id="268"/>
          </p14:sldIdLst>
        </p14:section>
        <p14:section name="Fechamento" id="{ae6f0161-0a9c-4771-d757-75d031b507f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o grupo e dizer o que vamos mostrar: as três entregas do desafio (container, TDD e deploy) aplicadas ao Rota Vital, o nosso PI. Ao fim, as lições aprendidas com o TDD, como o professor pediu.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rápido, um minuto no máximo: o problema é colocar o componente certo, dentro da validade, no lugar certo e na temperatura certa. Os números à direita são o estado do repositório hoje: 421 testes passando, as 8 histórias da Release 1 em produção, 201 commits. Reforçar as três ressalvas da faixa de baixo: dados sintéticos, telemetria simulada, compatibilidade didática.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das três entregas. A ideia que amarra tudo: o mesmo portão vale em todo lugar. Os testes rodam no build da imagem (E1), na esteira (E3), e as regras que eles cobrem nasceram do story map (E2).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E1. Mostrar o comando: clonar, copiar o .env de exemplo e um docker compose up. Nada mais precisa estar instalado. No diagrama: dois serviços numa rede própria, o banco não expõe a porta 5432 para fora, a API só sobe depois que o Postgres passa no healthcheck (service_healthy, não service_started), e os dados ficam num volume nomeado. Evidência: os dois containers healthy e o teste de persistência com restart.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Dockerfile tem dois estágios. O primeiro compila e roda a suíte inteira: é o mesmo portão da esteira, só que para quem builda na própria máquina. O segundo recebe só o jar. Contar o caso do COPY infra/: faltava essa linha, um teste que lê a configuração do Nginx falhou e a imagem não foi gerada. O portão funcionou contra nós mesmos.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story map foi o ponto de partida da E2. O backbone segue a operação real: receber, solicitar, alocar, transportar e acompanhar. Embaixo de cada etapa, as histórias da Release 1, todas em produção. Cada história foi quebrada em tarefas, e cada tarefa tem o teste que a cobre (está em docs/story-map.md). A linha tracejada é a Release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níveis. Na base, os unitários: uma regra sem Spring, como a matriz de compatibilidade (21 testes só ela). No meio, integração: um endpoint de verdade com banco. No topo, aceitação: cada cenário escrito em Gherkin no documento de histórias virou um teste com Dado/Quando/Então no nome. Todos rodam em todo push e dentro do docker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escolhemos o que testar primeiro: pelo custo do erro. Compatibilidade ABO/Rh foi a primeira porque um erro ali põe o paciente em risco, e o defeito existia: o código comparava grupos por igualdade, então um paciente A+ não recebia O−. O segundo foi a ordem do filtro no FEFO: se ordenar antes de filtrar, a bolsa vencida fica sempre no topo. Lembrar a ressalva: a compatibilidade é didática.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que o professor pediu: a jornada e as lições. O sinal de que o TDD estava funcionando é o teste derrubar uma decisão nossa. Três exemplos. E a parte honesta: na U1 escrevemos código antes do teste. Na U2 os testes passaram a guiar, mas se alguém abrir o git log vai ver que os commits de test: vieram junto ou depois dos feat:. A lição prática é separar o commit do teste vermelho, para que o histórico mostre 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esteira em .github/workflows/ci.yml. Quatro jobs na linha principal, ligados por needs: se os testes falham, empacotamento e deploy nem começam. A imagem Docker é um ramo paralelo que publica no GitHub Container Registry com a tag do commit. Depois do deploy, a esteira confere três coisas: a aplicação responde dentro da VM, responde pela URL pública passando pelo Nginx, e o console do H2 não está exposto.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evidências que o enunciado pede. À esquerda, um experimento de propósito: invertemos uma asserção no teste que diz que O− doa para todos. Testes ficou vermelho, e Empacotamento e Deploy aparecem como SKIPPED: eles não foram reprovados, nem começaram. À direita, a execução verde depois do merge: os cinco jobs passaram e a imagem foi publicada com a tag do commit. Se der, abrir a aba Actions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E1 funciona: o compose sobe tudo na máquina de qualquer um. O problema é a VM do Google Cloud onde a aplicação está no ar. Medimos com free -m: 955 MB no total e só 296 livres, porque o resto sustenta o Nginx, o serviço da aplicação e outro projeto. Os containers pediriam uns 510 MB: 330 da aplicação, 100 do Postgres e 80 do daemon do Docker. A conta não fecha, e o kernel mataria o processo mais pesado, que é a JVM.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decisão foi separar construir de entregar. A esteira já constrói e publica a imagem no GHCR a cada merge, com a tag do commit; o deploy entrega o jar por SSH. Preservamos o domínio, o HTTPS e a aplicação no ar. O deploy por container fica em aberto até haver uma VM maior, mantendo o Nginx como proxy reverso. A gente poderia ter forçado os containers na VM para a demo, mas preferimos registrar a restrição na tabela de decisões do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os links e abrir para perguntas. Se houver tempo, abrir a URL pública e a aba Actions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Rota Vital · Container, TDD e Deploy · dados sintéticos, telemetria simulada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sc3-pixel/Projeto3-2026.2" TargetMode="External"/><Relationship Id="rId2" Type="http://schemas.openxmlformats.org/officeDocument/2006/relationships/hyperlink" Target="https://rsc3-rotavital.duckdns.org/actuator/health" TargetMode="External"/><Relationship Id="rId3" Type="http://schemas.openxmlformats.org/officeDocument/2006/relationships/hyperlink" Target="https://rsc3-rotavital.duckdns.org/docs" TargetMode="External"/><Relationship Id="rId4" Type="http://schemas.openxmlformats.org/officeDocument/2006/relationships/hyperlink" Target="https://github.com/rsc3-pixel/Projeto3-2026.2/actions" TargetMode="External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PROJETO INTEGRADOR 3 · INFRAESTRUTURA DE SOFTWARE · UNIDADE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Rota Vital: container, TDD e deploy automatizado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Do commit ao ar sem passo manual, e só com a esteira verde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069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E1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Container automatizado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040" y="4069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4069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E2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TDD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4069080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4069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E3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Deploy automatizado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Equipe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Cauã Duarte · Fernando Peixoto · Gabriel Dias · Guilherme Souza · Lucas Albuquerque · Maria Eduarda Vasconcelos · Renato Chong · Victor Roma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Rota Vital leva a bolsa certa ao hospital certo, a tempo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Uma aplicação web que integra três problemas que bancos de sangue costumam resolver em sistemas separados: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4048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Estoque com validade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523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fila de prioridade FEFO: sai primeiro a bolsa que vence antes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107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Alocação compatível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75818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matriz ABO/Rh por hemocomponente, aplicada antes do FEFO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165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Rota com cadeia fria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caminho mínimo e faixa de temperatura por componente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421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testes automatizados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61120" y="160020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histórias em produção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3474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commits no repositório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0" y="347472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9720" y="3657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comando para subir tudo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EAD7DA"/>
          </a:solidFill>
          <a:ln w="12700">
            <a:solidFill>
              <a:srgbClr val="EAD7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Dados 100% sintéticos (LGPD)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5623560"/>
            <a:ext cx="3794760" cy="411480"/>
          </a:xfrm>
          <a:prstGeom prst="roundRect">
            <a:avLst>
              <a:gd name="adj" fmla="val 50000"/>
            </a:avLst>
          </a:prstGeom>
          <a:solidFill>
            <a:srgbClr val="EAD7DA"/>
          </a:solidFill>
          <a:ln w="12700">
            <a:solidFill>
              <a:srgbClr val="EAD7D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5623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Telemetria de temperatura e GPS simulada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18120" y="5623560"/>
            <a:ext cx="3794760" cy="411480"/>
          </a:xfrm>
          <a:prstGeom prst="roundRect">
            <a:avLst>
              <a:gd name="adj" fmla="val 50000"/>
            </a:avLst>
          </a:prstGeom>
          <a:solidFill>
            <a:srgbClr val="EAD7DA"/>
          </a:solidFill>
          <a:ln w="12700">
            <a:solidFill>
              <a:srgbClr val="EAD7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56235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ABO/Rh didática: não substitui protocolo clínico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DESAFIO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Três entregas, uma esteira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Container automatizado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PEDIDO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10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PI sobe do zero com um comando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ENTREGAMOS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15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Dockerfile multi-stage e compose.yaml com API, PostgreSQL, healthchecks e volume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0540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4860" y="1810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9486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TDD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4860" y="3063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PEDIDO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4860" y="3310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regras nascem dos testes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9486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ENTREGAMOS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94860" y="4315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story map → tarefas → 421 testes em três níveis, rodando na esteira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164592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181051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542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Deploy automatizado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063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PEDIDO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3101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merge na main chega sozinho a um ambiente público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ENTREGAMOS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315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encadeado por needs, publicando na VM do Google Cloud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decisão justificada no README: Integrantes · Como rodar · Testes · Pipeline e deploy · Decisões · Uso de 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E1 · CONTAINER AUTOMATIZADO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Um comando sobe API e banco em qualquer máquina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069080" cy="1600200"/>
          </a:xfrm>
          <a:prstGeom prst="roundRect">
            <a:avLst>
              <a:gd name="adj" fmla="val 4571"/>
            </a:avLst>
          </a:prstGeom>
          <a:solidFill>
            <a:srgbClr val="1C1B20"/>
          </a:solidFill>
          <a:ln w="12700">
            <a:solidFill>
              <a:srgbClr val="1C1B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…/Projeto3-2026.2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.env.example .env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B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Pré-requisito: só o Docker. Nada de Java, Maven ou PostgreSQL instalados.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RESULTADO (20/10)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17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rotavital-api     (healthy)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rotavital-banco   (healthy)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Os dados sobrevivem ao restart: POST de uma bolsa → docker compose restart → GET devolve 200.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1645920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Máquina host · docker compose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148840"/>
            <a:ext cx="617220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39496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rede rotavital-rede · bridge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2651760"/>
            <a:ext cx="2514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B0172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23560" y="2743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127248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Spring Boot · Java 21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healthcheck no Actuator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porta 8080 publicada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5400" y="2651760"/>
            <a:ext cx="2240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2B6A8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98280" y="2743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banco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127248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postgres:17-alpine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pg_isready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5432 não publicada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73568" y="3520440"/>
            <a:ext cx="9144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973568" y="3154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JDBC 5432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446227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depends_on: service_healthy — API só sobe com o banco pronto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30968" y="4343400"/>
            <a:ext cx="0" cy="7772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281160" y="5120640"/>
            <a:ext cx="1508760" cy="868680"/>
          </a:xfrm>
          <a:prstGeom prst="can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53492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rotavital-dados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volume nomeado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534924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40680" y="5349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localhost:8080  ➜  api:8080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E1 · CONTAINER AUTOMATIZADO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Multi-stage: o build testa, a imagem final só executa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Estágio 1 · build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eclipse-temurin:21-jdk-alpine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682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pom.xml antes do src/: dependências ficam em cache de camada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3522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./mvnw clean package roda os 421 testes: se um falhar, a imagem não nasce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3630168"/>
            <a:ext cx="0" cy="4572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06908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só o app.jar atravessa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6675120" cy="2011680"/>
          </a:xfrm>
          <a:prstGeom prst="roundRect">
            <a:avLst>
              <a:gd name="adj" fmla="val 3636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97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Estágio 2 · execução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eclipse-temurin:21-jre-alpine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JRE, não JDK: executar não exige compilador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Usuário rotavital, sem shell: invasor não ganha root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HEALTHCHECK no Actuator, com 60 s de folga para a JVM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-Xmx256m e SerialGC, medidos na VM, não estimados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1645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 QUE FICA DE FORA DA IMAGEM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2011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0299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Maven e JDK completo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2487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código-fonte e testes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✕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2944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repositório de dependências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✕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34015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.git, docs/, dados/ (.dockerignore)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35240" y="41605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4297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 MB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50749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imagem final da API, contra ~450 MB da variante Debian. Menos pacotes, menos vulnerabilidades a acompanhar.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E2 · TDD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Story map: o caminho que o sangue percorre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RELEASE 1 · ENTREGUE E EM PRODUÇÃO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21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RELEASE 2 · PLANEJADA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 Receber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656332" y="1920240"/>
            <a:ext cx="1280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9436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 que entrou, e até quando vale?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Cadastrar bolsa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85800" y="5623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Ingestão concorrente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88920" y="1600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5351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  Solicitar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96612" y="1920240"/>
            <a:ext cx="1280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83464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 hospital precisa de quê?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88920" y="33375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5351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Requisitar componentes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1600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 Alocar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136892" y="1920240"/>
            <a:ext cx="1280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07492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qual bolsa separar?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3375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379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93792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FEFO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4297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93792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HU-08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193792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Compatibilidade ABO/Rh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69480" y="1600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3407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  Transportar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9377172" y="1920240"/>
            <a:ext cx="12801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731520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cadeia fria aguentou?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33375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3407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434072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Rota de entrega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69480" y="4297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34072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434072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Temperatura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69480" y="5623560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7406640" y="5623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Vizinho mais próximo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509760" y="16002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7435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  Acompanhar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955548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onde vai faltar sangue?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509760" y="33375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74352" y="3429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HU-06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674352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Indicadores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509760" y="429768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674352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HU-04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674352" y="4663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Bolsas em risco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509760" y="5623560"/>
            <a:ext cx="21031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54" name="Text 52"/>
          <p:cNvSpPr txBox="1"/>
          <p:nvPr/>
        </p:nvSpPr>
        <p:spPr>
          <a:xfrm>
            <a:off x="9646920" y="5623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Desabastecimento, descarte e painel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E2 · TDD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421 testes em três níveis, todos rodando na esteira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7830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4688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Aceitação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um cenário da história, de ponta a ponta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CenariosAceitacaoTest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4414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10 cenários Gherkin traduzidos em Dado / Quando / Então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17320" y="32461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0200" y="3429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Integração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840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um endpoint, com banco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3383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FluxoRequisicaoTest · TemperaturaRemessaTest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3904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 caminho real: HTTP → serviço → JPA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6766560" cy="1280160"/>
          </a:xfrm>
          <a:prstGeom prst="roundRect">
            <a:avLst>
              <a:gd name="adj" fmla="val 5714"/>
            </a:avLst>
          </a:prstGeom>
          <a:solidFill>
            <a:srgbClr val="2B6A8F"/>
          </a:solidFill>
          <a:ln w="12700">
            <a:solidFill>
              <a:srgbClr val="2B6A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Unitário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uma regra isolada, sem Spring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846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MatrizCompatibilidadeTest · SelecaoFefoTest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5367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rápidos, a maioria da suíte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E2 · A JORNADA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Começamos pela regra cujo erro põe um paciente em risco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Teste primeiro: a relação é assimétrica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O− doa para A+, mas A+ não doa para O−. O defeito era real: a alocação comparava grupos por igualdade e recusava doação válida.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Implementação: MatrizCompatibilidade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regra por hemocomponente. No plasma ela se inverte: AB é o doador universal, não O−.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640080" cy="640080"/>
          </a:xfrm>
          <a:prstGeom prst="ellipse">
            <a:avLst/>
          </a:prstGeom>
          <a:solidFill>
            <a:srgbClr val="2B6A8F"/>
          </a:solidFill>
          <a:ln w="12700">
            <a:solidFill>
              <a:srgbClr val="2B6A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Integração: compatibilidade antes do FEFO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292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Primeiro descartamos o incompatível; entre os compatíveis, a validade mais próxima continua vencendo.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1645920"/>
            <a:ext cx="4343400" cy="4526280"/>
          </a:xfrm>
          <a:prstGeom prst="roundRect">
            <a:avLst>
              <a:gd name="adj" fmla="val 1684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segundo teste: a ordem do filtro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✕  Ordenar e depois filtrar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2606040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35240" y="2606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72F"/>
                </a:solidFill>
              </a:rPr>
              <a:t>1.  Bolsa venceu ontem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98080" y="2990088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2990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72"/>
                </a:solidFill>
              </a:rPr>
              <a:t>2.  Bolsa vence em 2 dias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374136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33741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A72"/>
                </a:solidFill>
              </a:rPr>
              <a:t>3.  Bolsa vence em 9 dias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 vencida “vence antes” de todas: ocuparia o topo em toda seleção.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✓  Filtrar e depois ordenar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98080" y="4754880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35240" y="47548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1.  Bolsa vence em 2 dias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0" y="5138928"/>
            <a:ext cx="38862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35240" y="51389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2.  Bolsa vence em 9 dias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596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SelecaoFefoTest garante: a vencida nunca chega ao topo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E2 · LIÇÕES DO TDD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Três vezes em que o teste derrubou a nossa decisão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Cancelamento de requisição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ACHÁVAMOS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2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proibir cancelar requisição ATENDIDA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 TESTE MOSTROU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4787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trava certa é o status das bolsas: RESERVADA desfaz, em trânsito não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0540" y="16459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91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Bolsa vencida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ACHÁVAMOS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49140" y="2542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alocação recusaria a bolsa vencida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914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 TESTE MOSTROU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49140" y="354787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ela é barrada antes, na entrada do estoque; e a que vence hoje ainda vale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164592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Colisão no índice hash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ACHÁVAMOS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5420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colisão “rara por construção”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291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O TESTE MOSTROU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547872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Objects.hash sobre enum varia entre execuções; a chave passou a usar ordinal()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138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Onde não seguimos à risca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 Unidade 1 o código veio antes do teste. Na Unidade 2 os testes guiaram as regras, mas o histórico nem sempre prova isso: test: e feat: chegaram no mesmo commit ou depois. Próxima vez: commitar o teste vermelho 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E3 · DEPLOY AUTOMATIZADO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Merge na main com esteira verde vai sozinho ao 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compila em segundos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70048" y="2354580"/>
            <a:ext cx="28346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421 testes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93208" y="2354580"/>
            <a:ext cx="28346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Empacotamento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jar como artefato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16368" y="2354580"/>
            <a:ext cx="28346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1812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5A0B17"/>
          </a:solidFill>
          <a:ln w="12700">
            <a:solidFill>
              <a:srgbClr val="5A0B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Deploy na VM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SSH → Google Cloud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39528" y="2354580"/>
            <a:ext cx="28346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241280" y="182880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0" y="1828800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 ar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duckdns.org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23360" y="2880360"/>
            <a:ext cx="0" cy="6858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3566160"/>
            <a:ext cx="77724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46320" y="320040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B6A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834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Imagem Docker → GHCR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só na main · tag = SHA do commit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needs encadeado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← testes ← empacotamento ← deploy: um elo quebrado para tudo o que vem depois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320540" y="4343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4914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491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14350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 versus main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45491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 PR roda build e testes; imagem e deploy só depois do merge na main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92440" y="43434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526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Conferência pós-deploy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 dentro da VM → URL pública via Nginx → console do H2 bloqueado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E3 · EVIDÊNCIAS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esteira barrou o erro e entregou o acerto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F7E3E6"/>
          </a:solidFill>
          <a:ln w="12700">
            <a:solidFill>
              <a:srgbClr val="F7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Vermelha · PR #72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 39463188571 · commit 9321a47 · nunca mergeado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679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assertTrue(compativel(O_NEG, …))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assertFalse(compativel(O_NEG, …))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547872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520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292608" cy="292608"/>
          </a:xfrm>
          <a:prstGeom prst="ellipse">
            <a:avLst/>
          </a:prstGeom>
          <a:solidFill>
            <a:srgbClr val="B0172F"/>
          </a:solidFill>
          <a:ln w="12700">
            <a:solidFill>
              <a:srgbClr val="B017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22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17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352544"/>
            <a:ext cx="292608" cy="292608"/>
          </a:xfrm>
          <a:prstGeom prst="ellipse">
            <a:avLst/>
          </a:prstGeom>
          <a:solidFill>
            <a:srgbClr val="6E6A72"/>
          </a:solidFill>
          <a:ln w="12700">
            <a:solidFill>
              <a:srgbClr val="6E6A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Empacotamento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43251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754880"/>
            <a:ext cx="292608" cy="292608"/>
          </a:xfrm>
          <a:prstGeom prst="ellipse">
            <a:avLst/>
          </a:prstGeom>
          <a:solidFill>
            <a:srgbClr val="6E6A72"/>
          </a:solidFill>
          <a:ln w="12700">
            <a:solidFill>
              <a:srgbClr val="6E6A7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727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Deploy na VM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840480" y="4727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Uma linha alterada. O deploy nem chegou a iniciar, e a versão no ar ficou intacta.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164592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E2F0E9"/>
          </a:solidFill>
          <a:ln w="12700">
            <a:solidFill>
              <a:srgbClr val="E2F0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Verde · merge do PR #73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 39466760242 · commit 712b63b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260604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267919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ghcr.io/rsc3-pixel/rota-vital:712b63b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…:latest  (mesmo digest)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3547872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520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46520" y="3950208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39227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Testes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464040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46520" y="4352544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4652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4325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Empacotamento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464040" y="43251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46520" y="4754880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03720" y="4727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Imagem Docker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9464040" y="4727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446520" y="5157216"/>
            <a:ext cx="292608" cy="29260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46520" y="5157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903720" y="51297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Deploy na VM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464040" y="51297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5623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/actuator/health respondendo UP pela URL pública.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E3 · O PROBLEMA QUE ENCONTRAMOS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container funciona, mas a VM não tem memória para ele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 E1 está entregue e provado. Mas a máquina onde a aplicação roda não comporta subir o mesmo ambiente.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 QUE A VM 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 MB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 totais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4892040" cy="0"/>
          </a:xfrm>
          <a:prstGeom prst="line">
            <a:avLst/>
          </a:prstGeom>
          <a:noFill/>
          <a:ln w="12700">
            <a:solidFill>
              <a:srgbClr val="D9CF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 MB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   livres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resto sustenta o Nginx, o serviço da aplicação e outro projeto hospedado na mesma máquina.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57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 QUE OS CONTAINERS PEDEM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 MB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container da aplicação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MB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container do PostgreSQL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MB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474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daemon do Docker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4005072"/>
            <a:ext cx="489204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114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 MB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  contra 296 disponíveis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Subir os containers lá derrubaria a própria aplicação e o outro projeto que divide a máquina. O kernel mataria o processo mais pesado, que é justamente a JVM.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Fonte: free -m na VM, 20/10/2026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E3 · A DECISÃO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Separar construir de entregar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O pipeline constrói e publica a imagem a cada merge. O deploy entrega o jar. São dois passos independentes, e só o segundo depende da memória da VM.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 que fizemos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imagem vai para o GHCR, versionada por commit. Pronta para qualquer host que a receba.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0540" y="23317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9140" y="2514600"/>
            <a:ext cx="457200" cy="457200"/>
          </a:xfrm>
          <a:prstGeom prst="ellipse">
            <a:avLst/>
          </a:prstGeom>
          <a:solidFill>
            <a:srgbClr val="2B6A8F"/>
          </a:solidFill>
          <a:ln w="12700">
            <a:solidFill>
              <a:srgbClr val="2B6A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91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4350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 que preservamos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4914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domínio e o certificado HTTPS continuam válidos, e a aplicação segue no ar sem interrupção.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3317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EEEF"/>
          </a:solidFill>
          <a:ln w="12700">
            <a:solidFill>
              <a:srgbClr val="F3E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514600"/>
            <a:ext cx="457200" cy="45720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 que fica em aberto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deploy por container. Entra quando houver uma VM maior, com o Nginx atual como proxy reverso.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1C1B20"/>
          </a:solidFill>
          <a:ln w="12700">
            <a:solidFill>
              <a:srgbClr val="1C1B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Podíamos ter subido os containers na VM meia hora antes da entrega, mostrado funcionando e torcido para não cair. Escolhemos registrar a restrição na tabela de decisões.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Reconhecer o limite da infraestrutura e apresentar o caminho é parte do trabalho, não confissão de falha.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Obrigado. Perguntas?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REPOSITÓRIO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github.com/rsc3-pixel/Projeto3-2026.2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APLICAÇÃO NO AR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rsc3-rotavital.duckdns.org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API REFERENCE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rsc3-rotavital.duckdns.org/docs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PIPELINE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120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aba Actions do repositório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Dados sintéticos · telemetria simulada · compatibilidade ABO/Rh didática, sem validade clínica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ta Vital">
  <a:themeElements>
    <a:clrScheme name="Rota Vital">
      <a:dk1>
        <a:srgbClr val="1C1B20"/>
      </a:dk1>
      <a:lt1>
        <a:srgbClr val="FFFFFF"/>
      </a:lt1>
      <a:dk2>
        <a:srgbClr val="5A0B17"/>
      </a:dk2>
      <a:lt2>
        <a:srgbClr val="F3EEEF"/>
      </a:lt2>
      <a:accent1>
        <a:srgbClr val="B0172F"/>
      </a:accent1>
      <a:accent2>
        <a:srgbClr val="1F7A55"/>
      </a:accent2>
      <a:accent3>
        <a:srgbClr val="2B6A8F"/>
      </a:accent3>
      <a:accent4>
        <a:srgbClr val="C98A12"/>
      </a:accent4>
      <a:accent5>
        <a:srgbClr val="6E6A72"/>
      </a:accent5>
      <a:accent6>
        <a:srgbClr val="EAD7DA"/>
      </a:accent6>
      <a:hlink>
        <a:srgbClr val="2B6A8F"/>
      </a:hlink>
      <a:folHlink>
        <a:srgbClr val="5A0B17"/>
      </a:folHlink>
    </a:clrScheme>
    <a:fontScheme name="Rota Vi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Projeto Integrador 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 Vital — Container, TDD e Deploy automatizado</dc:title>
  <dc:subject>PptxGenJS Presentation</dc:subject>
  <dc:creator>Equipe Rota Vital</dc:creator>
  <cp:lastModifiedBy>Equipe Rota Vital</cp:lastModifiedBy>
  <cp:revision>1</cp:revision>
  <dcterms:created xsi:type="dcterms:W3CDTF">2026-10-20T18:30:17Z</dcterms:created>
  <dcterms:modified xsi:type="dcterms:W3CDTF">2026-10-20T18:30:17Z</dcterms:modified>
</cp:coreProperties>
</file>